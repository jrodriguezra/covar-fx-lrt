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Variance-Covariance VaR as an Intraday Risk Management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Market Risk Management &amp; ALM</a:t>
            </a:r>
            <a:br/>
            <a:r>
              <a:t>Scotiabank Peru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VaR Can Be Part of the Intraday Risk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Current VaR (Historical) is not part of the intraday risk management process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Limited to EOD max loss picture, regulatory and governance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What VaR Needs to Be Intraday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Update live with position changes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Reflect current market conditions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Decompose risk into drivers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Be sequentially actionable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What Does CoVaR Allow?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Updates as risk levels change across portfolio(s)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Reveals where risk is concentrated at the most granular level: by risk bucket, instrument, or currency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Is actionable: shows what trade minimises VaR and by how much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Quickly responds to changes in volatility and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Best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Live control of positions in fast-moving or prolonged stress scenarios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Live risk budgeting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Hedge ratio construction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Risk silo identification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Analyze risk-return (Sharpe on Vol of PnL) of trades, portfolio strategy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Pre-trade impact: before putting on a new position, see how it changes portfolio VaR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What is CoVaR?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Parametric VaR using live risk positions and a precomputed covariance matrix of market movements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Two Inputs, Separated by Update Frequency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Risk vector S: DV01s and FX deltas in USD — updates live with every position change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Covariance matrix Q: variance and co-movement of daily risk factor changes — precomputed, updated daily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This separation is what makes it fast — Q is the heavy computation done once; S is just a vector paste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The CoVaR Multiplier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Calibri"/>
              </a:defRPr>
            </a:pPr>
            <a:r>
              <a:t>c = √( Sᵀ Q S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 is the one-day standard deviation of portfolio P&amp;L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Portfolio P&amp;L modeled as ΔP = SᵀΔr, where Δr is assumed multivariate normal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VaR = 2.326 × c  (99% confidence)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Why CoVaR Over Historical VaR?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43400"/>
                <a:gridCol w="4343400"/>
              </a:tblGrid>
              <a:tr h="838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Historical VaR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CoVaR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Update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Possible intraday via delta approx, but messy: recompute each scenario, re-rank losses, re-pick 4th worst. Jumpy, discrete, no analytical structure.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Smooth continuous function of S and Q — change one position, output updates instantly.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Can split into IR vs FX, rebucket by trade — but granular attribution is complex and messy to maintain.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 allocation to every risk bucket, always summing exactly to total VaR.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Actionability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Worst scenario points to one risk concentration. Once hedged, VaR flips to a different historical day. You end up chasing ghosts from regimes that may no longer exist.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Responds smoothly to position changes wrt a single coherent view of current market structure. No regime-jumping.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Market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Backward-looking: tail scenarios are fixed historical days that may not reflect today’s regime.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EWMA covariance reflects current volatility and correlation regime.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Tail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Captures actual realised tails.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Assumes normality — symmetric, no fat tails.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The tradeoff: CoVaR sacrifices distributional accuracy for analytical tractability. You lose tail shape. You gain decomposition, consistency, and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Key Assumption — 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The covariance matrix is symmetric by construction: variance treats positive and negative deviations identically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This produces a symmetric P&amp;L distribution — the model assigns equal probability to gaining 2.326 × c as to losing it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CoVaR captures the magnitude and co-movement of market moves, not their direction. EWMA additionally reflects how quickly volatility is changing and how persistent elevated vol regimes are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An elevated CoVaR in a trending market may reflect opportunity as much as risk — trader judgment on direction and conviction complements the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Workarounds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Sharpe overlay: is the risk compensated by expected return?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Dual-horizon Q: EWMA for current regime vs equal-weight for structural view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Modify the confidence multiplier to account for kurtosis and skewness (e.g., higher z for fat tails: ~3.0–3.4× vs 2.326×)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Three Outputs, One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Where Is the Risk?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VaR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Total VaR broken down into every risk bucket — always summing to total VaR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Instantly identifies the dominant risk driver as positions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How Do I Lower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VaR Minimisation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VaR minimisation trade for each instrument or combinations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When constrained by liquidity, shows impact of available alternatives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Reveals true risk silos, not just biggest 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Active Risk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CoVaR Multiplier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Live monitoring against risk budgets and thresholds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Pre-trade impact: quantify VaR change before executing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Quantify the cost of inaction (not hedging)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Live Example — Current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Portfolio: SOFR OIS Curve + LatAm FX  |  EWMA λ=0.94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CoVaR Multiplier (c)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372,682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99% 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866,859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Where Is the Risk?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LatAm FX is ~90% of total VaR: USDPEN (29%), USDMXN (26%), USDCOP (17%), USDBRL (17%)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Entire SOFR curve combined: ~10%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In the current global selloff, FX risk dominates rate risk by an order of 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What Does the Dashboard Tell Me To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USDPEN: buy back 401k → reduces c by 106k (29%)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USDMXN: buy back 362k → reduces c by 96k (26%)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USDCOP: buy back 175k → reduces c by 63k (17%)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Any single FX trade &gt; entire rate book combined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Cross-Check vs Historical 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EWMA 99% CoVaR: 867k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Historical 99% (full sample): 907k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Historical 99% (1Y): 687k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Historical VaR gives 907k with zero insight. CoVaR gives 867k and tells you exactly which three trades fix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Appendix: The Full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1: Compute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Rates: Δr = (yₜ – yₜ₋₁) × 100 → bps/day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FX: Δr = (Sₜ – Sₜ₋₁)/Sₜ₋₁ × 100 → %/day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2: Build Covariance Matrix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14016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Equal weight: Q = (1/T–1) Σ Δrₜ Δrₜᵀ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EWMA: Qₜ = λ Qₜ₋₁ + (1–λ) Δrₜ Δrₜᵀ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Diagonal = variance, Off-diagonal = covariance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3: CoVaR Multiplier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c = √(Sᵀ Q S)  —  1-day P&amp;L std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70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4: 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90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VaR(99%) = 2.326 ×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5: VaR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Allocᵢ = z × Sᵢ × (QS)ᵢ / c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Sum of allocations = total VaR (Euler property)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Positive = adding risk, Negative = diversifying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865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6: Single Instrument VaR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0662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Sᵗʳᵃᵈᵉ = –(QS)ᵢ / diag(Q)ᵢ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Accounts for correlations with all other buckets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Step 7: VaR Reduction per 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ΔVaRᵢ = z × (c – √(c² – (QS)ᵢ²/diag(Q)ᵢ))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  <a:buChar char="•"/>
            </a:pPr>
            <a:r>
              <a:t>Exact, not approximate. Rank for execution priority.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Appendix: Building the Covariance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286000"/>
                <a:gridCol w="347472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Bucket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Computation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Computed 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Currencies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FX Delta on 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% change DoD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currency levels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Bonds (all ccy)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DV01 by Bond/Instrument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bps change DoD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Interpolation on CMT curve, calculate hist DoD change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 Ccy Swaps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DV01 per bucket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bps change DoD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yield levels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Cross Ccy Swaps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DV01 per 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bps change DoD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yield levels on projection and discount risk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NDF (all ccy)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BR01 per bucket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bps change DoD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NDF implied rate differential levels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Generation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09728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TFRM</a:t>
            </a:r>
          </a:p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Computes Q matrix</a:t>
            </a:r>
            <a:br/>
            <a:r>
              <a:t>and diag(Q) daily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286000" cy="109728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Delivery</a:t>
            </a:r>
          </a:p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Sent to desk</a:t>
            </a:r>
            <a:br/>
            <a:r>
              <a:t>by EOD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286000" cy="109728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Desk</a:t>
            </a:r>
          </a:p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Pastes Q into Excel</a:t>
            </a:r>
            <a:br/>
            <a:r>
              <a:t>Links live S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45920"/>
            <a:ext cx="2286000" cy="109728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t>Live Model</a:t>
            </a:r>
          </a:p>
          <a:p>
            <a:pPr algn="ctr">
              <a:defRPr sz="1000">
                <a:solidFill>
                  <a:srgbClr val="1E293B"/>
                </a:solidFill>
                <a:latin typeface="Calibri"/>
              </a:defRPr>
            </a:pPr>
            <a:r>
              <a:t>CoVaR multiplier,</a:t>
            </a:r>
            <a:br/>
            <a:r>
              <a:t>allocation, min trades</a:t>
            </a:r>
            <a:br/>
            <a:r>
              <a:t>update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Contingency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If Q cannot be computed: use the previous day’s Q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For EWMA: impact is manageable for one day but should not extend beyond that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For Equal Weight: difference is negligible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Desk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It is impractical for each desk to run the global portfolio model since they have different risk models with their view of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Option 1: Global Model with Cross-Term (Exact)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Single Excel workbook where both desks paste their S vectors and Q matrices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Full portfolio CoVaR: c²full = c²A + c²B + 2 · SAᵀ QAB SB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Captures cross-desk correlations exactly — no risk under/overstatement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Requires both desks to share risk vectors into one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Option 2: Additive Standalone CoVaRs (Approximate)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Each desk runs its own model: FX desk (STIR + FX + XCCY) and Rates desk (Soberanos + LT Rates)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Total risk approximated by adding both CoVaR multipliers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Caveat: ignores cross-desk correlations. Currently Soberanos and USDPEN are positively correlated — simple addition likely understates true combined risk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Suitable as intraday approximation, reconciled against global model at key checkpoints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To Dos for Final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Software: SQL, Python, Excel, Bloomberg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Data Requirements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 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Monedas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SQL Bloomberg/PEAK Fixings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Poblar la base con data. De lo contrario esperar publicación SBS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Soberanos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Ingresar CMT calculados, establecer proceso de cálculo diario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Swaps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Bloomberg a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Carga inicial y establecer el proceso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SQL Diferenciales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Listo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Building the Process: 1 Python Script, 4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(1) Interpolate CMT wrt current Soberano durations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(2) Compute DoD changes (bps for rates, % for FX)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(3) Compute covariance matrix and diag(Q)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(4) Export Q and diag(Q) to CSV/Excel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Block 1: Data &amp; System Development (2 Weeks)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Done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Establish databases: populate SQL, BBG upload, CMT auto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5 days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Data recall from SQL (Python): map databases, reorder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3 days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Code matrix computation workflow: CMT + data recall + matrix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3 days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Build Excel dashboard: CoVaR + Historic 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2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017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Block 2: Calibration &amp; Backtesting (1 Week)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1371600"/>
              </a:tblGrid>
              <a:tr h="304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Calibration and backtesting: EW, EWMA lambdas, smoothing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 days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Reconcile findings in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Block 3: Feedback &amp; Trader Workflow (2 Weeks)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93776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0"/>
                <a:gridCol w="1371600"/>
              </a:tblGrid>
              <a:tr h="304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Present to traders, agree on practices, portfolio splits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2-3 sessions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Implement feedback, incorporate into trader blotters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 week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Block 4: Monitoring &amp; Enhancements (Ongoing)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  <a:buChar char="•"/>
            </a:pPr>
            <a:r>
              <a:t>Monitor live CoVaR vs realised P&amp;L for ongoing model validation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Calibri"/>
              </a:defRPr>
              <a:buChar char="•"/>
            </a:pPr>
            <a:r>
              <a:t>Develop enhancements from roadmap based on priority and trader feedback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Covariance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RIE matrix cleaning at higher dimensions (Bun, Bouchaud, Potters 2016)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Dual dashboard: EWMA for current regime, equal-weight for structural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Fat Tail Adjustments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Empirical ratio: Historical VaR / CoVaR as model-free tail multiplier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Fixed conservative multiplier: Student-t quantile (~3.0–3.4× for LatAm asset class)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Cornish-Fisher: daily recalibration using portfolio P&amp;L skewness and kurtosis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Risk-Return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Sharpe overlay: expected return / CoVaR multiplier per bucket and portfolio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Tool for Sharpe of trades and portfolio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