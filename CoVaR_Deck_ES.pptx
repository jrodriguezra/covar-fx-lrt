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0A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CoVaR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Calibri"/>
              </a:defRPr>
            </a:pPr>
            <a:r>
              <a:t>VaR de Varianza-Covarianza como Herramienta</a:t>
            </a:r>
            <a:br/>
            <a:r>
              <a:t>de Gestión de Riesgo Intradía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377440"/>
            <a:ext cx="2743200" cy="36576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TFRM Trading</a:t>
            </a:r>
            <a:br/>
            <a:r>
              <a:t>Scotiabank Perú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VaR Puede Ser Parte del Proceso de</a:t>
            </a:r>
            <a:br/>
            <a:r>
              <a:t>Gestión de Riesgo Intradía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Estado Actual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El VaR Histórico actual no forma parte del proceso de gestión de riesgo intradía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Limitado a imagen de pérdida máxima EOD, reportes regulatorios y de gobernanza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La accionabilidad sobre el VaR se limita a "estar por debajo del EWI"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¿Qué Necesita el VaR para Ser una Herramienta Intradía Accionable?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Cómputo rápido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Actualizarse en vivo con cambios de posición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Reflejar las condiciones actuales del mercado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Descomponer el riesgo en sus drivers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Ser secuencialmente accionable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¿Qué Permite CoVaR?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Tener una Desviación Estándar de PnL en vivo — escalable para representar riesgo de cola (Multiplicador CoVaR)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Se actualiza inmediatamente cuando cambian los niveles de riesgo en el portafolio(s) durante el día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La SD de PnL se alinea rápidamente con cambios en volatilidad y correlaciones (Matriz de Covarianza)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Revela dónde se concentra el riesgo al nivel más granular: por bucket, instrumento o moneda (Asignación CoVaR)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Es accionable: muestra qué operación minimiza el VaR y en cuánto (Trades de Minimización CoVaR)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¿Cómo Mejora CoVaR el BAO?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Aplicaciones en Gestión de Riesgo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Juzgar y monitorear cuantitativamente concentraciones de riesgo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Herramienta para cuestionar estrategia, concentración, trades activos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TFRM puede realizar análisis de escenarios, ES para acordar presupuestos de riesgo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La sección de Riesgo y Retorno en solicitudes LMS ahora puede ser objetiva y cuantitativa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Mejor opinión cuantitativa en comités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Aplicaciones en Trading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Atribución de riesgo en vivo (ver el costo de mantener posiciones)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Presupuesto de riesgo en vivo bajo escenarios de estrés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Vista previa del impacto de trades en SD de PnL, VaR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Monitorear riesgo-retorno de trades y estrategia por mesa (Sharpe sobre Vol de PnL)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Construcción de ratios de cobertura, cómputo de trades VaR-neutral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¿Qué es CoVaR?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  <a:latin typeface="Calibri"/>
              </a:defRPr>
            </a:pPr>
            <a:r>
              <a:t>Método donde el VaR (riesgo de cola) se determina a partir de la Desviación Estándar de PnL calculada desde una matriz de covarianza dada.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Dos Insumos, Separados por Frecuencia de Actualización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Vector de riesgo S: DV01s y deltas FX en USD — se actualiza en vivo con cada cambio de posición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Matriz de covarianza Q: varianza y co-movimiento de cambios diarios — precalculada, actualizada diariamente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Diagonal = varianza, Fuera de diagonal = covarianza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El Multiplicador CoVaR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0A0E"/>
                </a:solidFill>
                <a:latin typeface="Calibri"/>
              </a:defRPr>
            </a:pPr>
            <a:r>
              <a:t>c = √( Sᵀ Q S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c es la desviación estándar de un día del PnL del portafolio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PnL modelado como ΔP = SᵀΔr, donde Δr se asume normal multivariado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VaR = 2.326 × c  (99% de confianza)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Un Dashboard, Tres Productos, Tres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¿Dónde Está el Riesgo?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Asignación de VaR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VaR total descompuesto en cada bucket — siempre sumando al VaR total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Identifica instantáneamente el driver de riesgo dominante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050B"/>
                </a:solidFill>
                <a:latin typeface="Calibri"/>
              </a:defRPr>
            </a:pPr>
            <a:r>
              <a:t>Allocᵢ = z × Sᵢ × (QS)ᵢ /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¿Cómo lo Reduzco?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Minimización de 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1031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Trade de minimización por instrumento o combinaciones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Ante restricciones de liquidez, muestra el impacto de alternativas disponibles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Revela los verdaderos silos de riesgo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474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050B"/>
                </a:solidFill>
                <a:latin typeface="Calibri"/>
              </a:defRPr>
            </a:pPr>
            <a:r>
              <a:t>Sᵗʳᵃᵈᵉ = –(QS)ᵢ / diag(Q)ᵢ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¿Qué Tan Grande Es Mi Riesgo?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737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Monitoreo del Multiplicador CoVaR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Monitoreo en vivo contra presupuestos y umbrales de riesgo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Impacto pre-trade: cuantificar cambio en VaR antes de ejecutar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Cuantificar el costo de la inacción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74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050B"/>
                </a:solidFill>
                <a:latin typeface="Calibri"/>
              </a:defRPr>
            </a:pPr>
            <a:r>
              <a:t>ΔVaRᵢ = z × (c – √(c² – (QS)ᵢ²/diag(Q)ᵢ))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Ejemplo en Vivo — Portafolio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Portafolio: Curva SOFR OIS + FX LatAm  |  EWMA λ=0.94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Multiplicador CoVaR (c)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0A0E"/>
                </a:solidFill>
                <a:latin typeface="Calibri"/>
              </a:defRPr>
            </a:pPr>
            <a:r>
              <a:t>372,682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VaR 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C0712"/>
                </a:solidFill>
                <a:latin typeface="Calibri"/>
              </a:defRPr>
            </a:pPr>
            <a:r>
              <a:t>866,859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¿Dónde Está el Riesgo?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FX LatAm es ~90% del VaR total: USDPEN (29%), USDMXN (26%), USDCOP (17%), USDBRL (17%)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Toda la curva SOFR combinada: ~10%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En el selloff global actual, el riesgo FX domina al riesgo de tasas por un orden de magnitud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¿Qué Dice el Dashboard?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0175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USDPEN: recomprar 401k → reduce c en 106k (29%)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USDMXN: recomprar 362k → reduce c en 96k (26%)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USDCOP: recomprar 175k → reduce c en 63k (17%)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Cualquier trade FX individual &gt; toda la curva de tasas combinada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Contraste vs VaR Histórico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120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CoVaR EWMA 99%: 867k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VaR Histórico 99% (muestra completa): 907k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VaR Histórico 99% (1A): 687k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El VaR Histórico da 907k sin ninguna visión de qué hacer. CoVaR da 867k y dice exactamente qué tres trades lo resuelven.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0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Apéndice: Construcción de la Matriz de Covarianza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286000"/>
                <a:gridCol w="347472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Bucket de Riesgo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Cálculo del Delta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Calculado Sobre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Monedas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Delta FX sobre 1%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% cambio DiD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Niveles históricos de monedas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Bonos (todas las ccy)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DV01 por Bono/Instrumento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bps cambio DiD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Interpolación en curva CMT, calcular cambio histórico DiD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Swaps Mono-Moneda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DV01 por bucket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bps cambio DiD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Niveles históricos de rendimiento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Swaps Cross-Currency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DV01 por bucket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bps cambio DiD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Niveles históricos de rendimiento en proyección y descuento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NDF (todas las ccy)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BR01 por bucket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bps cambio DiD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Niveles históricos de diferencial implícito de NDF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Proceso de Generación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286000" cy="109728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EC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D0A0E"/>
                </a:solidFill>
              </a:defRPr>
            </a:pPr>
            <a:r>
              <a:t>TFRM</a:t>
            </a:r>
          </a:p>
          <a:p>
            <a:pPr algn="ctr">
              <a:defRPr sz="1000">
                <a:solidFill>
                  <a:srgbClr val="1A1A1A"/>
                </a:solidFill>
              </a:defRPr>
            </a:pPr>
            <a:r>
              <a:t>Calcula la matriz Q</a:t>
            </a:r>
            <a:br/>
            <a:r>
              <a:t>y diag(Q) diariamente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C0712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286000" cy="109728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EC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D0A0E"/>
                </a:solidFill>
              </a:defRPr>
            </a:pPr>
            <a:r>
              <a:t>Entrega</a:t>
            </a:r>
          </a:p>
          <a:p>
            <a:pPr algn="ctr">
              <a:defRPr sz="1000">
                <a:solidFill>
                  <a:srgbClr val="1A1A1A"/>
                </a:solidFill>
              </a:defRPr>
            </a:pPr>
            <a:r>
              <a:t>Envía a la mesa</a:t>
            </a:r>
            <a:br/>
            <a:r>
              <a:t>al cierre del día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C0712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645920"/>
            <a:ext cx="2286000" cy="109728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EC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D0A0E"/>
                </a:solidFill>
              </a:defRPr>
            </a:pPr>
            <a:r>
              <a:t>Mesa</a:t>
            </a:r>
          </a:p>
          <a:p>
            <a:pPr algn="ctr">
              <a:defRPr sz="1000">
                <a:solidFill>
                  <a:srgbClr val="1A1A1A"/>
                </a:solidFill>
              </a:defRPr>
            </a:pPr>
            <a:r>
              <a:t>Pega Q en Excel</a:t>
            </a:r>
            <a:br/>
            <a:r>
              <a:t>Enlaza vector S en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C0712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645920"/>
            <a:ext cx="2286000" cy="109728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EC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D0A0E"/>
                </a:solidFill>
              </a:defRPr>
            </a:pPr>
            <a:r>
              <a:t>Modelo Vivo</a:t>
            </a:r>
          </a:p>
          <a:p>
            <a:pPr algn="ctr">
              <a:defRPr sz="1000">
                <a:solidFill>
                  <a:srgbClr val="1A1A1A"/>
                </a:solidFill>
              </a:defRPr>
            </a:pPr>
            <a:r>
              <a:t>Multiplicador CoVaR,</a:t>
            </a:r>
            <a:br/>
            <a:r>
              <a:t>asignación, trades min</a:t>
            </a:r>
            <a:br/>
            <a:r>
              <a:t>se actualizan al instante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Contingencia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Si no se puede calcular Q: usar la Q del día anterior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Para EWMA: el impacto es manejable por un día pero no debe extenderse más allá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Para Pesos Iguales: la diferencia es despreciable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Flujo de Trabajo de la Mesa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Es impracticable que cada mesa ejecute el modelo de portafolio global dado que tienen modelos de riesgo distintos con su visión de riesgos.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Opción 1: Modelo Global con Término Cruzado (Exacto)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Un solo libro Excel donde ambas mesas pegan sus vectores S y matrices Q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CoVaR del portafolio completo: c²full = c²A + c²B + 2 · SAᵀ QAB SB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Captura las correlaciones entre mesas exactamente — sin sub/sobreestimación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Requiere que ambas mesas compartan vectores de riesgo en un solo libro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Opción 2: CoVaRs Individuales Aditivos (Aproximado)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Cada mesa ejecuta su propio modelo: Mesa FX (STIR + FX + XCCY) y Mesa Tasas (Soberanos + Tasas Largas)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Riesgo total aproximado sumando ambos multiplicadores CoVaR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Advertencia: ignora correlaciones entre mesas. Actualmente Soberanos y USDPEN están positivamente correlacionados — la suma simple probablemente subestima el riesgo combinado real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Adecuado como aproximación intradía, reconciliado contra el modelo global en puntos clave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Pendientes para Ejecución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Software: SQL, Python, Excel, Bloomberg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Requerimientos de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54864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Fuente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Pendiente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Monedas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SQL Bloomberg/PEAK Fixings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Poblar la base con data. De lo contrario esperar publicación SBS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Soberanos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Ingresar CMT calculados, establecer proceso de cálculo diario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Swaps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Bloomberg a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Carga inicial y establecer el proceso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SQL Diferenciales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Listo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Construcción del Proceso: 1 Script Python, 4 Funciones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(1) Interpolar CMT respecto a duraciones actuales de Soberanos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(2) Calcular cambios DiD (bps para tasas, % para FX)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(3) Calcular matriz de covarianza y diag(Q)</a:t>
            </a:r>
          </a:p>
          <a:p>
            <a:pPr>
              <a:spcAft>
                <a:spcPts val="600"/>
              </a:spcAft>
              <a:defRPr sz="1200">
                <a:solidFill>
                  <a:srgbClr val="1A1A1A"/>
                </a:solidFill>
                <a:latin typeface="Calibri"/>
              </a:defRPr>
              <a:buChar char="•"/>
            </a:pPr>
            <a:r>
              <a:t>(4) Exportar Q y diag(Q) a CSV/Excel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Cronograma de Implementación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C0712"/>
                </a:solidFill>
                <a:latin typeface="Calibri"/>
              </a:defRPr>
            </a:pPr>
            <a:r>
              <a:t>Bloque 1: Desarrollo e Implementación de Data y Sistema (2 Semanas)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188720"/>
          <a:ext cx="9144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0"/>
                <a:gridCol w="1371600"/>
                <a:gridCol w="1371600"/>
              </a:tblGrid>
              <a:tr h="32918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Tarea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% Avance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Tiempo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Establecer bases de datos: poblar SQL, carga BBG, generación auto CMT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 días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Recall de data desde SQL (Python): mapear bases, reordenar curvas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 días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Codificar flujo de cómputo de matriz: CMT + recall + generación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 días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Construir dashboard Excel: CoVaR + VaR Histórico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 días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017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C0712"/>
                </a:solidFill>
                <a:latin typeface="Calibri"/>
              </a:defRPr>
            </a:pPr>
            <a:r>
              <a:t>Bloque 2: Calibración y Backtesting (1 Semana)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3383280"/>
          <a:ext cx="9144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1371600"/>
              </a:tblGrid>
              <a:tr h="3048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Tarea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Tiempo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Calibración y backtesting: EW, EWMA lambdas, métodos de suavizamiento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 días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Reconciliar hallazgos en presentación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 días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C0712"/>
                </a:solidFill>
                <a:latin typeface="Calibri"/>
              </a:defRPr>
            </a:pPr>
            <a:r>
              <a:t>Bloque 3: Feedback e Implementación en Flujo del Trader (2 Semanas)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4937760"/>
          <a:ext cx="9144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1371600"/>
              </a:tblGrid>
              <a:tr h="3048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Tarea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Tiempo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Presentar a traders, acordar prácticas, división de portafolios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2-3 sesiones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Implementar feedback, incorporar a blotters de trader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 semana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6035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C0712"/>
                </a:solidFill>
                <a:latin typeface="Calibri"/>
              </a:defRPr>
            </a:pPr>
            <a:r>
              <a:t>Bloque 4: Monitoreo y Mejoras (Continuo)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1A1A"/>
                </a:solidFill>
                <a:latin typeface="Calibri"/>
              </a:defRPr>
              <a:buChar char="•"/>
            </a:pPr>
            <a:r>
              <a:t>Monitorear CoVaR en vivo vs PnL realizado para validación continua del modelo</a:t>
            </a:r>
          </a:p>
          <a:p>
            <a:pPr>
              <a:spcAft>
                <a:spcPts val="600"/>
              </a:spcAft>
              <a:defRPr sz="1000">
                <a:solidFill>
                  <a:srgbClr val="1A1A1A"/>
                </a:solidFill>
                <a:latin typeface="Calibri"/>
              </a:defRPr>
              <a:buChar char="•"/>
            </a:pPr>
            <a:r>
              <a:t>Desarrollar mejoras del roadmap según prioridad y feedback de traders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C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Mejoras Futuras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Matriz de Covarianza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Limpieza de matriz RIE en dimensiones mayores (Bun, Bouchaud, Potters 2016)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Dashboard dual: EWMA para régimen actual, pesos iguales para visión estructural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Ajustes por Colas Gruesas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Ratio empírico: VaR Histórico / CoVaR como multiplicador de cola libre de modelo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Multiplicador conservador fijo: cuantil Student-t (~3.0–3.4× para clase de activos LatAm)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Cornish-Fisher: recalibración diaria usando asimetría y curtosis del PnL del portafolio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0712"/>
                </a:solidFill>
                <a:latin typeface="Calibri"/>
              </a:defRPr>
            </a:pPr>
            <a:r>
              <a:t>Marco de Riesgo-Retorno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Capa Sharpe: retorno esperado / multiplicador CoVaR por bucket y portafolio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  <a:latin typeface="Calibri"/>
              </a:defRPr>
              <a:buChar char="•"/>
            </a:pPr>
            <a:r>
              <a:t>Herramienta de Sharpe de trades y estrategia de portafolio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0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0A0E"/>
                </a:solidFill>
                <a:latin typeface="Calibri"/>
              </a:defRPr>
            </a:pPr>
            <a:r>
              <a:t>Apéndice: ¿Por Qué CoVaR Sobre VaR Histórico?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05840"/>
          <a:ext cx="10515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343400"/>
                <a:gridCol w="4343400"/>
              </a:tblGrid>
              <a:tr h="838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VaR Histórico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CoVaR</a:t>
                      </a:r>
                    </a:p>
                  </a:txBody>
                  <a:tcPr>
                    <a:solidFill>
                      <a:srgbClr val="EC071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latin typeface="Calibri"/>
                        </a:defRPr>
                      </a:pPr>
                      <a:r>
                        <a:t>Velocidad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Posible intradía vía aprox. delta, pero desordenado: recalcular cada escenario, re-rankear pérdidas. Saltos discretos, sin estructura analítica.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Función continua y suave de S y Q — cambias una posición, el resultado se actualiza al instante.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latin typeface="Calibri"/>
                        </a:defRPr>
                      </a:pPr>
                      <a:r>
                        <a:t>Descomposición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Se puede dividir en IR vs FX, re-agrupar por trade — pero la atribución granular es compleja y difícil de mantener.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Asignación completa a cada bucket de riesgo, siempre sumando exactamente al VaR total.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latin typeface="Calibri"/>
                        </a:defRPr>
                      </a:pPr>
                      <a:r>
                        <a:t>Accionabilidad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El peor escenario apunta a una concentración. Una vez cubierto, el VaR salta a otro día histórico con riesgo en otro lugar. Terminas persiguiendo fantasmas de regímenes que ya no existen.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Responde suavemente a cambios de posición respecto a una visión coherente de la estructura actual del mercado. Sin saltos de régimen.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latin typeface="Calibri"/>
                        </a:defRPr>
                      </a:pPr>
                      <a:r>
                        <a:t>Condiciones de Mercado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Retrospectivo: los escenarios de cola son días históricos fijos que pueden no reflejar el régimen actual.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La covarianza EWMA refleja el régimen actual de volatilidad y correlación.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latin typeface="Calibri"/>
                        </a:defRPr>
                      </a:pPr>
                      <a:r>
                        <a:t>Precisión de Colas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Captura las colas realmente realizadas.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Calibri"/>
                        </a:defRPr>
                      </a:pPr>
                      <a:r>
                        <a:t>Asume normalidad — simétrica, sin colas gruesas.</a:t>
                      </a:r>
                    </a:p>
                  </a:txBody>
                  <a:tcPr>
                    <a:solidFill>
                      <a:srgbClr val="FD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0A0E"/>
                </a:solidFill>
                <a:latin typeface="Calibri"/>
              </a:defRPr>
            </a:pPr>
            <a:r>
              <a:t>El tradeoff: CoVaR sacrifica precisión distribucional por tractabilidad analítica. Se pierde la forma de la cola. Se gana descomposición, consistencia y velocidad.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