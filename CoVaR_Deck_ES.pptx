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Calibri"/>
              </a:defRPr>
            </a:pPr>
            <a:r>
              <a:t>VaR de Varianza-Covarianza como Herramienta</a:t>
            </a:r>
            <a:br/>
            <a:r>
              <a:t>de Gestión de Riesgo Intradía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2743200" cy="36576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Calibri"/>
              </a:defRPr>
            </a:pPr>
            <a:r>
              <a:t>TFRM Trading</a:t>
            </a:r>
            <a:br/>
            <a:r>
              <a:t>Scotiabank Perú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VaR Puede Ser Parte del Proceso de</a:t>
            </a:r>
            <a:br/>
            <a:r>
              <a:t>Gestión de Riesgo Intradía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Estado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El </a:t>
            </a:r>
            <a:r>
              <a:rPr sz="1600" dirty="0" err="1"/>
              <a:t>VaR</a:t>
            </a:r>
            <a:r>
              <a:rPr sz="1600" dirty="0"/>
              <a:t> Histórico actual no forma </a:t>
            </a:r>
            <a:r>
              <a:rPr sz="1600" dirty="0" err="1"/>
              <a:t>parte</a:t>
            </a:r>
            <a:r>
              <a:rPr sz="1600" dirty="0"/>
              <a:t> del </a:t>
            </a:r>
            <a:r>
              <a:rPr sz="1600" dirty="0" err="1"/>
              <a:t>proceso</a:t>
            </a:r>
            <a:r>
              <a:rPr sz="1600" dirty="0"/>
              <a:t> de </a:t>
            </a:r>
            <a:r>
              <a:rPr sz="1600" dirty="0" err="1"/>
              <a:t>gestión</a:t>
            </a:r>
            <a:r>
              <a:rPr sz="1600" dirty="0"/>
              <a:t> de </a:t>
            </a:r>
            <a:r>
              <a:rPr sz="1600" dirty="0" err="1"/>
              <a:t>riesgo</a:t>
            </a:r>
            <a:r>
              <a:rPr sz="1600" dirty="0"/>
              <a:t> </a:t>
            </a:r>
            <a:r>
              <a:rPr sz="1600" dirty="0" err="1"/>
              <a:t>intradía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Limitado</a:t>
            </a:r>
            <a:r>
              <a:rPr sz="1600" dirty="0"/>
              <a:t> a imagen de </a:t>
            </a:r>
            <a:r>
              <a:rPr sz="1600" dirty="0" err="1"/>
              <a:t>pérdida</a:t>
            </a:r>
            <a:r>
              <a:rPr sz="1600" dirty="0"/>
              <a:t> </a:t>
            </a:r>
            <a:r>
              <a:rPr sz="1600" dirty="0" err="1"/>
              <a:t>máxima</a:t>
            </a:r>
            <a:r>
              <a:rPr sz="1600" dirty="0"/>
              <a:t> EOD, </a:t>
            </a:r>
            <a:r>
              <a:rPr sz="1600" dirty="0" err="1"/>
              <a:t>reportes</a:t>
            </a:r>
            <a:r>
              <a:rPr sz="1600" dirty="0"/>
              <a:t> </a:t>
            </a:r>
            <a:r>
              <a:rPr sz="1600" dirty="0" err="1"/>
              <a:t>regulatorios</a:t>
            </a:r>
            <a:r>
              <a:rPr sz="1600" dirty="0"/>
              <a:t> y de </a:t>
            </a:r>
            <a:r>
              <a:rPr sz="1600" dirty="0" err="1"/>
              <a:t>gobernanza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La </a:t>
            </a:r>
            <a:r>
              <a:rPr sz="1600" dirty="0" err="1"/>
              <a:t>accionabilidad</a:t>
            </a:r>
            <a:r>
              <a:rPr sz="1600" dirty="0"/>
              <a:t> </a:t>
            </a:r>
            <a:r>
              <a:rPr sz="1600" dirty="0" err="1"/>
              <a:t>sobre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VaR</a:t>
            </a:r>
            <a:r>
              <a:rPr sz="1600" dirty="0"/>
              <a:t> se </a:t>
            </a:r>
            <a:r>
              <a:rPr sz="1600" dirty="0" err="1"/>
              <a:t>limita</a:t>
            </a:r>
            <a:r>
              <a:rPr sz="1600" dirty="0"/>
              <a:t> a "</a:t>
            </a:r>
            <a:r>
              <a:rPr sz="1600" dirty="0" err="1"/>
              <a:t>estar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debajo</a:t>
            </a:r>
            <a:r>
              <a:rPr sz="1600" dirty="0"/>
              <a:t> del EWI"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¿Qué Necesita el VaR para Ser una Herramienta Intradía Accionable?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Cómputo rápido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Actualizarse en vivo con cambios de posición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Reflejar las condiciones actuales del mercado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Descomponer el riesgo en sus drivers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Ser secuencialmente accionable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¿Qué Permite CoVaR?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Tener una Desviación Estándar de PnL en vivo — escalable para representar riesgo de cola (Multiplicador CoVaR)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Se actualiza inmediatamente cuando cambian los niveles de riesgo en el portafolio(s) durante el día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La SD de PnL se alinea rápidamente con cambios en volatilidad y correlaciones (Matriz de Covarianza)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Revela dónde se concentra el riesgo al nivel más granular: por bucket, instrumento o moneda (Asignación CoVaR)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Es accionable: muestra qué operación minimiza el VaR y en cuánto (Trades de Minimización CoVaR)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¿Cómo Mejora CoVaR el BAO?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Aplicaciones en Gestión de Riesgo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Juzgar</a:t>
            </a:r>
            <a:r>
              <a:rPr sz="1600" dirty="0"/>
              <a:t> y </a:t>
            </a:r>
            <a:r>
              <a:rPr sz="1600" dirty="0" err="1"/>
              <a:t>monitorear</a:t>
            </a:r>
            <a:r>
              <a:rPr sz="1600" dirty="0"/>
              <a:t> </a:t>
            </a:r>
            <a:r>
              <a:rPr sz="1600" dirty="0" err="1"/>
              <a:t>cuantitativamente</a:t>
            </a:r>
            <a:r>
              <a:rPr sz="1600" dirty="0"/>
              <a:t> </a:t>
            </a:r>
            <a:r>
              <a:rPr sz="1600" dirty="0" err="1"/>
              <a:t>concentraciones</a:t>
            </a:r>
            <a:r>
              <a:rPr sz="1600" dirty="0"/>
              <a:t> de </a:t>
            </a:r>
            <a:r>
              <a:rPr sz="1600" dirty="0" err="1"/>
              <a:t>riesgo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Herramienta</a:t>
            </a:r>
            <a:r>
              <a:rPr sz="1600" dirty="0"/>
              <a:t> para </a:t>
            </a:r>
            <a:r>
              <a:rPr sz="1600" dirty="0" err="1"/>
              <a:t>cuestionar</a:t>
            </a:r>
            <a:r>
              <a:rPr sz="1600" dirty="0"/>
              <a:t> </a:t>
            </a:r>
            <a:r>
              <a:rPr sz="1600" dirty="0" err="1"/>
              <a:t>estrategia</a:t>
            </a:r>
            <a:r>
              <a:rPr sz="1600" dirty="0"/>
              <a:t>, </a:t>
            </a:r>
            <a:r>
              <a:rPr sz="1600" dirty="0" err="1"/>
              <a:t>concentración</a:t>
            </a:r>
            <a:r>
              <a:rPr sz="1600" dirty="0"/>
              <a:t>, trades </a:t>
            </a:r>
            <a:r>
              <a:rPr sz="1600" dirty="0" err="1"/>
              <a:t>activos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TFRM </a:t>
            </a:r>
            <a:r>
              <a:rPr sz="1600" dirty="0" err="1"/>
              <a:t>puede</a:t>
            </a:r>
            <a:r>
              <a:rPr sz="1600" dirty="0"/>
              <a:t> </a:t>
            </a:r>
            <a:r>
              <a:rPr sz="1600" dirty="0" err="1"/>
              <a:t>realizar</a:t>
            </a:r>
            <a:r>
              <a:rPr sz="1600" dirty="0"/>
              <a:t> </a:t>
            </a:r>
            <a:r>
              <a:rPr sz="1600" dirty="0" err="1"/>
              <a:t>análisis</a:t>
            </a:r>
            <a:r>
              <a:rPr sz="1600" dirty="0"/>
              <a:t> de </a:t>
            </a:r>
            <a:r>
              <a:rPr sz="1600" dirty="0" err="1"/>
              <a:t>escenarios</a:t>
            </a:r>
            <a:r>
              <a:rPr sz="1600" dirty="0"/>
              <a:t>, ES para </a:t>
            </a:r>
            <a:r>
              <a:rPr sz="1600" dirty="0" err="1"/>
              <a:t>acordar</a:t>
            </a:r>
            <a:r>
              <a:rPr sz="1600" dirty="0"/>
              <a:t> </a:t>
            </a:r>
            <a:r>
              <a:rPr sz="1600" dirty="0" err="1"/>
              <a:t>presupuestos</a:t>
            </a:r>
            <a:r>
              <a:rPr sz="1600" dirty="0"/>
              <a:t> de </a:t>
            </a:r>
            <a:r>
              <a:rPr sz="1600" dirty="0" err="1"/>
              <a:t>riesgo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La </a:t>
            </a:r>
            <a:r>
              <a:rPr sz="1600" dirty="0" err="1"/>
              <a:t>sección</a:t>
            </a:r>
            <a:r>
              <a:rPr sz="1600" dirty="0"/>
              <a:t> de Riesgo y </a:t>
            </a:r>
            <a:r>
              <a:rPr sz="1600" dirty="0" err="1"/>
              <a:t>Retorno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solicitudes LMS </a:t>
            </a:r>
            <a:r>
              <a:rPr sz="1600" dirty="0" err="1"/>
              <a:t>ahora</a:t>
            </a:r>
            <a:r>
              <a:rPr sz="1600" dirty="0"/>
              <a:t> </a:t>
            </a:r>
            <a:r>
              <a:rPr sz="1600" dirty="0" err="1"/>
              <a:t>puede</a:t>
            </a:r>
            <a:r>
              <a:rPr sz="1600" dirty="0"/>
              <a:t> ser </a:t>
            </a:r>
            <a:r>
              <a:rPr sz="1600" dirty="0" err="1"/>
              <a:t>objetiva</a:t>
            </a:r>
            <a:r>
              <a:rPr sz="1600" dirty="0"/>
              <a:t> y </a:t>
            </a:r>
            <a:r>
              <a:rPr sz="1600" dirty="0" err="1"/>
              <a:t>cuantitativa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Mejor </a:t>
            </a:r>
            <a:r>
              <a:rPr sz="1600" dirty="0" err="1"/>
              <a:t>opinión</a:t>
            </a:r>
            <a:r>
              <a:rPr sz="1600" dirty="0"/>
              <a:t> </a:t>
            </a:r>
            <a:r>
              <a:rPr sz="1600" dirty="0" err="1"/>
              <a:t>cuantitativa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comités</a:t>
            </a:r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Aplicaciones en Trading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Atribución de riesgo en vivo (ver el costo de mantener posiciones)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Presupuesto de riesgo en vivo bajo escenarios de estrés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Vista previa del impacto de trades en SD de PnL, VaR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Monitorear riesgo-retorno de trades y estrategia por mesa (Sharpe sobre Vol de PnL)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Construcción de ratios de cobertura, cómputo de trades VaR-neutral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¿Qué es CoVaR?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Método</a:t>
            </a:r>
            <a:r>
              <a:rPr sz="1600" dirty="0"/>
              <a:t> </a:t>
            </a:r>
            <a:r>
              <a:rPr sz="1600" dirty="0" err="1"/>
              <a:t>donde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VaR</a:t>
            </a:r>
            <a:r>
              <a:rPr sz="1600" dirty="0"/>
              <a:t> (</a:t>
            </a:r>
            <a:r>
              <a:rPr sz="1600" dirty="0" err="1"/>
              <a:t>riesgo</a:t>
            </a:r>
            <a:r>
              <a:rPr sz="1600" dirty="0"/>
              <a:t> de cola) se </a:t>
            </a:r>
            <a:r>
              <a:rPr sz="1600" dirty="0" err="1"/>
              <a:t>determina</a:t>
            </a:r>
            <a:r>
              <a:rPr sz="1600" dirty="0"/>
              <a:t> a </a:t>
            </a:r>
            <a:r>
              <a:rPr sz="1600" dirty="0" err="1"/>
              <a:t>partir</a:t>
            </a:r>
            <a:r>
              <a:rPr sz="1600" dirty="0"/>
              <a:t> de la </a:t>
            </a:r>
            <a:r>
              <a:rPr sz="1600" dirty="0" err="1"/>
              <a:t>Desviación</a:t>
            </a:r>
            <a:r>
              <a:rPr sz="1600" dirty="0"/>
              <a:t> </a:t>
            </a:r>
            <a:r>
              <a:rPr sz="1600" dirty="0" err="1"/>
              <a:t>Estándar</a:t>
            </a:r>
            <a:r>
              <a:rPr sz="1600" dirty="0"/>
              <a:t> de </a:t>
            </a:r>
            <a:r>
              <a:rPr sz="1600" dirty="0" err="1"/>
              <a:t>PnL</a:t>
            </a:r>
            <a:r>
              <a:rPr sz="1600" dirty="0"/>
              <a:t> </a:t>
            </a:r>
            <a:r>
              <a:rPr sz="1600" dirty="0" err="1"/>
              <a:t>calculada</a:t>
            </a:r>
            <a:r>
              <a:rPr sz="1600" dirty="0"/>
              <a:t> </a:t>
            </a:r>
            <a:r>
              <a:rPr sz="1600" dirty="0" err="1"/>
              <a:t>desde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matriz</a:t>
            </a:r>
            <a:r>
              <a:rPr sz="1600" dirty="0"/>
              <a:t> de </a:t>
            </a:r>
            <a:r>
              <a:rPr sz="1600" dirty="0" err="1"/>
              <a:t>covarianza</a:t>
            </a:r>
            <a:r>
              <a:rPr sz="1600" dirty="0"/>
              <a:t> dada.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Dos Insumos, Separados por Frecuencia de Actualización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Vector de </a:t>
            </a:r>
            <a:r>
              <a:rPr sz="1600" dirty="0" err="1"/>
              <a:t>riesgo</a:t>
            </a:r>
            <a:r>
              <a:rPr sz="1600" dirty="0"/>
              <a:t> S: DV01s y deltas FX </a:t>
            </a:r>
            <a:r>
              <a:rPr sz="1600" dirty="0" err="1"/>
              <a:t>en</a:t>
            </a:r>
            <a:r>
              <a:rPr sz="1600" dirty="0"/>
              <a:t> USD — se </a:t>
            </a:r>
            <a:r>
              <a:rPr sz="1600" dirty="0" err="1"/>
              <a:t>actualiza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vivo con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cambio</a:t>
            </a:r>
            <a:r>
              <a:rPr sz="1600" dirty="0"/>
              <a:t> de </a:t>
            </a:r>
            <a:r>
              <a:rPr sz="1600" dirty="0" err="1"/>
              <a:t>posición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Matriz</a:t>
            </a:r>
            <a:r>
              <a:rPr sz="1600" dirty="0"/>
              <a:t> de </a:t>
            </a:r>
            <a:r>
              <a:rPr sz="1600" dirty="0" err="1"/>
              <a:t>covarianza</a:t>
            </a:r>
            <a:r>
              <a:rPr sz="1600" dirty="0"/>
              <a:t> Q: </a:t>
            </a:r>
            <a:r>
              <a:rPr sz="1600" dirty="0" err="1"/>
              <a:t>varianza</a:t>
            </a:r>
            <a:r>
              <a:rPr sz="1600" dirty="0"/>
              <a:t> y co-</a:t>
            </a:r>
            <a:r>
              <a:rPr sz="1600" dirty="0" err="1"/>
              <a:t>movimiento</a:t>
            </a:r>
            <a:r>
              <a:rPr sz="1600" dirty="0"/>
              <a:t> de </a:t>
            </a:r>
            <a:r>
              <a:rPr sz="1600" dirty="0" err="1"/>
              <a:t>cambios</a:t>
            </a:r>
            <a:r>
              <a:rPr sz="1600" dirty="0"/>
              <a:t> </a:t>
            </a:r>
            <a:r>
              <a:rPr sz="1600" dirty="0" err="1"/>
              <a:t>diarios</a:t>
            </a:r>
            <a:r>
              <a:rPr sz="1600" dirty="0"/>
              <a:t> — </a:t>
            </a:r>
            <a:r>
              <a:rPr sz="1600" dirty="0" err="1"/>
              <a:t>precalculada</a:t>
            </a:r>
            <a:r>
              <a:rPr sz="1600" dirty="0"/>
              <a:t>, </a:t>
            </a:r>
            <a:r>
              <a:rPr sz="1600" dirty="0" err="1"/>
              <a:t>actualizada</a:t>
            </a:r>
            <a:r>
              <a:rPr sz="1600" dirty="0"/>
              <a:t> </a:t>
            </a:r>
            <a:r>
              <a:rPr sz="1600" dirty="0" err="1"/>
              <a:t>diariamente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Diagonal = </a:t>
            </a:r>
            <a:r>
              <a:rPr sz="1600" dirty="0" err="1"/>
              <a:t>varianza</a:t>
            </a:r>
            <a:r>
              <a:rPr sz="1600" dirty="0"/>
              <a:t>, Fuera de diagonal = </a:t>
            </a:r>
            <a:r>
              <a:rPr sz="1600" dirty="0" err="1"/>
              <a:t>covarianza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El Multiplicador CoVaR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0A0E"/>
                </a:solidFill>
                <a:latin typeface="Calibri"/>
              </a:defRPr>
            </a:pPr>
            <a:r>
              <a:t>c = √( Sᵀ Q S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c es la desviación estándar de un día del PnL del portafolio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PnL modelado como ΔP = SᵀΔr, donde Δr se asume normal multivariado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/>
              <a:t>VaR = 2.326 × c  (99% de confianza)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Un Dashboard, Tres Productos, Tres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rPr sz="1600"/>
              <a:t>¿Dónde Está el Riesgo?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rPr sz="1600" dirty="0" err="1"/>
              <a:t>Asignación</a:t>
            </a:r>
            <a:r>
              <a:rPr sz="1600" dirty="0"/>
              <a:t> de </a:t>
            </a:r>
            <a:r>
              <a:rPr sz="1600" dirty="0" err="1"/>
              <a:t>VaR</a:t>
            </a:r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 err="1"/>
              <a:t>VaR</a:t>
            </a:r>
            <a:r>
              <a:rPr sz="1400" dirty="0"/>
              <a:t> total </a:t>
            </a:r>
            <a:r>
              <a:rPr sz="1400" dirty="0" err="1"/>
              <a:t>descompuesto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cada</a:t>
            </a:r>
            <a:r>
              <a:rPr sz="1400" dirty="0"/>
              <a:t> bucket — </a:t>
            </a:r>
            <a:r>
              <a:rPr sz="1400" dirty="0" err="1"/>
              <a:t>siempre</a:t>
            </a:r>
            <a:r>
              <a:rPr sz="1400" dirty="0"/>
              <a:t> </a:t>
            </a:r>
            <a:r>
              <a:rPr sz="1400" dirty="0" err="1"/>
              <a:t>sumando</a:t>
            </a:r>
            <a:r>
              <a:rPr sz="1400" dirty="0"/>
              <a:t> al </a:t>
            </a:r>
            <a:r>
              <a:rPr sz="1400" dirty="0" err="1"/>
              <a:t>VaR</a:t>
            </a:r>
            <a:r>
              <a:rPr sz="1400" dirty="0"/>
              <a:t> total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 err="1"/>
              <a:t>Identifica</a:t>
            </a:r>
            <a:r>
              <a:rPr sz="1400" dirty="0"/>
              <a:t> </a:t>
            </a:r>
            <a:r>
              <a:rPr sz="1400" dirty="0" err="1"/>
              <a:t>instantáneamente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driver de </a:t>
            </a:r>
            <a:r>
              <a:rPr sz="1400" dirty="0" err="1"/>
              <a:t>riesgo</a:t>
            </a:r>
            <a:r>
              <a:rPr sz="1400" dirty="0"/>
              <a:t> </a:t>
            </a:r>
            <a:r>
              <a:rPr sz="1400" dirty="0" err="1"/>
              <a:t>dominante</a:t>
            </a:r>
            <a:endParaRPr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342525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50B"/>
                </a:solidFill>
                <a:latin typeface="Calibri"/>
              </a:defRPr>
            </a:pPr>
            <a:r>
              <a:rPr sz="1600" dirty="0" err="1"/>
              <a:t>Alloc</a:t>
            </a:r>
            <a:r>
              <a:rPr sz="1600" dirty="0"/>
              <a:t>ᵢ = z × Sᵢ × (QS)ᵢ /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rPr sz="1600"/>
              <a:t>¿Cómo lo Reduzco?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rPr sz="1600"/>
              <a:t>Minimización de 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/>
              <a:t>Trade de </a:t>
            </a:r>
            <a:r>
              <a:rPr sz="1400" dirty="0" err="1"/>
              <a:t>minimización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instrumento</a:t>
            </a:r>
            <a:r>
              <a:rPr sz="1400" dirty="0"/>
              <a:t> o </a:t>
            </a:r>
            <a:r>
              <a:rPr sz="1400" dirty="0" err="1"/>
              <a:t>combinaciones</a:t>
            </a:r>
            <a:endParaRPr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/>
              <a:t>Ante </a:t>
            </a:r>
            <a:r>
              <a:rPr sz="1400" dirty="0" err="1"/>
              <a:t>restricciones</a:t>
            </a:r>
            <a:r>
              <a:rPr sz="1400" dirty="0"/>
              <a:t> de </a:t>
            </a:r>
            <a:r>
              <a:rPr sz="1400" dirty="0" err="1"/>
              <a:t>liquidez</a:t>
            </a:r>
            <a:r>
              <a:rPr sz="1400" dirty="0"/>
              <a:t>, </a:t>
            </a:r>
            <a:r>
              <a:rPr sz="1400" dirty="0" err="1"/>
              <a:t>muestra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impacto</a:t>
            </a:r>
            <a:r>
              <a:rPr sz="1400" dirty="0"/>
              <a:t> de </a:t>
            </a:r>
            <a:r>
              <a:rPr sz="1400" dirty="0" err="1"/>
              <a:t>alternativas</a:t>
            </a:r>
            <a:r>
              <a:rPr sz="1400" dirty="0"/>
              <a:t> </a:t>
            </a:r>
            <a:r>
              <a:rPr sz="1400" dirty="0" err="1"/>
              <a:t>disponibles</a:t>
            </a:r>
            <a:endParaRPr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 err="1"/>
              <a:t>Revela</a:t>
            </a:r>
            <a:r>
              <a:rPr sz="1400" dirty="0"/>
              <a:t> </a:t>
            </a:r>
            <a:r>
              <a:rPr sz="1400" dirty="0" err="1"/>
              <a:t>los</a:t>
            </a:r>
            <a:r>
              <a:rPr sz="1400" dirty="0"/>
              <a:t> </a:t>
            </a:r>
            <a:r>
              <a:rPr sz="1400" dirty="0" err="1"/>
              <a:t>verdaderos</a:t>
            </a:r>
            <a:r>
              <a:rPr sz="1400" dirty="0"/>
              <a:t> silos de </a:t>
            </a:r>
            <a:r>
              <a:rPr sz="1400" dirty="0" err="1"/>
              <a:t>riesgo</a:t>
            </a:r>
            <a:endParaRPr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4389120" y="369957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50B"/>
                </a:solidFill>
                <a:latin typeface="Calibri"/>
              </a:defRPr>
            </a:pPr>
            <a:r>
              <a:rPr sz="1600"/>
              <a:t>Sᵗʳᵃᵈᵉ = –(QS)ᵢ / diag(Q)ᵢ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37160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rPr sz="1600"/>
              <a:t>¿Qué Tan Grande Es Mi Riesgo?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7373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rPr sz="1600"/>
              <a:t>Monitoreo del Multiplicador CoVaR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 err="1"/>
              <a:t>Monitoreo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vivo contra </a:t>
            </a:r>
            <a:r>
              <a:rPr sz="1400" dirty="0" err="1"/>
              <a:t>presupuestos</a:t>
            </a:r>
            <a:r>
              <a:rPr sz="1400" dirty="0"/>
              <a:t> y </a:t>
            </a:r>
            <a:r>
              <a:rPr sz="1400" dirty="0" err="1"/>
              <a:t>umbrales</a:t>
            </a:r>
            <a:r>
              <a:rPr sz="1400" dirty="0"/>
              <a:t> de </a:t>
            </a:r>
            <a:r>
              <a:rPr sz="1400" dirty="0" err="1"/>
              <a:t>riesgo</a:t>
            </a:r>
            <a:endParaRPr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/>
              <a:t>Impacto pre-trade: </a:t>
            </a:r>
            <a:r>
              <a:rPr sz="1400" dirty="0" err="1"/>
              <a:t>cuantificar</a:t>
            </a:r>
            <a:r>
              <a:rPr sz="1400" dirty="0"/>
              <a:t> </a:t>
            </a:r>
            <a:r>
              <a:rPr sz="1400" dirty="0" err="1"/>
              <a:t>cambio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VaR</a:t>
            </a:r>
            <a:r>
              <a:rPr sz="1400" dirty="0"/>
              <a:t> antes de </a:t>
            </a:r>
            <a:r>
              <a:rPr sz="1400" dirty="0" err="1"/>
              <a:t>ejecutar</a:t>
            </a:r>
            <a:endParaRPr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400" dirty="0" err="1"/>
              <a:t>Cuantificar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costo</a:t>
            </a:r>
            <a:r>
              <a:rPr sz="1400" dirty="0"/>
              <a:t> de la </a:t>
            </a:r>
            <a:r>
              <a:rPr sz="1400" dirty="0" err="1"/>
              <a:t>inacción</a:t>
            </a:r>
            <a:endParaRPr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8046720" y="369957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50B"/>
                </a:solidFill>
                <a:latin typeface="Calibri"/>
              </a:defRPr>
            </a:pPr>
            <a:r>
              <a:rPr sz="1600"/>
              <a:t>ΔVaRᵢ = z × (c – √(c² – (QS)ᵢ²/diag(Q)ᵢ))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Apéndice: Construcción de la Matriz de Covarianza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729094"/>
              </p:ext>
            </p:extLst>
          </p:nvPr>
        </p:nvGraphicFramePr>
        <p:xfrm>
          <a:off x="731520" y="10972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Tipo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Bucket de Riesgo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s-PE" sz="1600" dirty="0"/>
                        <a:t>Primeras Diferencias</a:t>
                      </a:r>
                      <a:endParaRPr sz="1600" dirty="0"/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Calculado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Sobre</a:t>
                      </a:r>
                      <a:endParaRPr sz="1600" dirty="0"/>
                    </a:p>
                  </a:txBody>
                  <a:tcPr>
                    <a:solidFill>
                      <a:srgbClr val="EC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Monedas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Delta FX sobre 1%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/>
                        <a:t>% </a:t>
                      </a:r>
                      <a:r>
                        <a:rPr lang="es-PE" sz="1600" dirty="0" err="1"/>
                        <a:t>chge</a:t>
                      </a:r>
                      <a:r>
                        <a:rPr sz="1600" dirty="0"/>
                        <a:t> D</a:t>
                      </a:r>
                      <a:r>
                        <a:rPr lang="es-PE" sz="1600" dirty="0"/>
                        <a:t>o</a:t>
                      </a:r>
                      <a:r>
                        <a:rPr sz="1600" dirty="0"/>
                        <a:t>D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 err="1"/>
                        <a:t>Niveles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históricos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monedas</a:t>
                      </a:r>
                      <a:endParaRPr sz="1600" dirty="0"/>
                    </a:p>
                  </a:txBody>
                  <a:tcPr>
                    <a:solidFill>
                      <a:srgbClr val="F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Bonos (todas las ccy)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DV01 por Bono/Instrumento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/>
                        <a:t>bps </a:t>
                      </a:r>
                      <a:r>
                        <a:rPr lang="es-PE" sz="1600" dirty="0" err="1"/>
                        <a:t>chge</a:t>
                      </a:r>
                      <a:r>
                        <a:rPr sz="1600" dirty="0"/>
                        <a:t> D</a:t>
                      </a:r>
                      <a:r>
                        <a:rPr lang="es-PE" sz="1600" dirty="0"/>
                        <a:t>o</a:t>
                      </a:r>
                      <a:r>
                        <a:rPr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 err="1"/>
                        <a:t>Interpolación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en</a:t>
                      </a:r>
                      <a:r>
                        <a:rPr sz="1600" dirty="0"/>
                        <a:t> curva CMT, </a:t>
                      </a:r>
                      <a:r>
                        <a:rPr sz="1600" dirty="0" err="1"/>
                        <a:t>calcular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cambio</a:t>
                      </a:r>
                      <a:r>
                        <a:rPr sz="1600" dirty="0"/>
                        <a:t> histórico </a:t>
                      </a:r>
                      <a:r>
                        <a:rPr sz="1600" dirty="0" err="1"/>
                        <a:t>DiD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Swaps Mono-Moneda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DV01 por bucket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lang="es-PE" sz="1600" dirty="0"/>
                        <a:t>bps </a:t>
                      </a:r>
                      <a:r>
                        <a:rPr lang="es-PE" sz="1600" dirty="0" err="1"/>
                        <a:t>chge</a:t>
                      </a:r>
                      <a:r>
                        <a:rPr lang="es-PE" sz="1600" dirty="0"/>
                        <a:t> </a:t>
                      </a:r>
                      <a:r>
                        <a:rPr lang="es-PE" sz="1600" dirty="0" err="1"/>
                        <a:t>DoD</a:t>
                      </a:r>
                      <a:endParaRPr lang="es-PE" sz="1600" dirty="0"/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 err="1"/>
                        <a:t>Niveles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históricos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rendimiento</a:t>
                      </a:r>
                      <a:endParaRPr sz="1600" dirty="0"/>
                    </a:p>
                  </a:txBody>
                  <a:tcPr>
                    <a:solidFill>
                      <a:srgbClr val="F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Swaps Cross-Currency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DV01 por 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lang="es-PE" sz="1600" dirty="0"/>
                        <a:t>bps </a:t>
                      </a:r>
                      <a:r>
                        <a:rPr lang="es-PE" sz="1600" dirty="0" err="1"/>
                        <a:t>chge</a:t>
                      </a:r>
                      <a:r>
                        <a:rPr lang="es-PE" sz="1600" dirty="0"/>
                        <a:t> </a:t>
                      </a:r>
                      <a:r>
                        <a:rPr lang="es-PE" sz="1600" dirty="0" err="1"/>
                        <a:t>DoD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 err="1"/>
                        <a:t>Niveles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históricos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rendimiento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en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proyección</a:t>
                      </a:r>
                      <a:r>
                        <a:rPr sz="1600" dirty="0"/>
                        <a:t> y </a:t>
                      </a:r>
                      <a:r>
                        <a:rPr sz="1600" dirty="0" err="1"/>
                        <a:t>descuento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NDF (todas las ccy)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/>
                        <a:t>BR01 por bucket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lang="es-PE" sz="1600" dirty="0"/>
                        <a:t>bps </a:t>
                      </a:r>
                      <a:r>
                        <a:rPr lang="es-PE" sz="1600" dirty="0" err="1"/>
                        <a:t>chge</a:t>
                      </a:r>
                      <a:r>
                        <a:rPr lang="es-PE" sz="1600" dirty="0"/>
                        <a:t> </a:t>
                      </a:r>
                      <a:r>
                        <a:rPr lang="es-PE" sz="1600" dirty="0" err="1"/>
                        <a:t>DoD</a:t>
                      </a:r>
                      <a:endParaRPr lang="es-PE" sz="1600" dirty="0"/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600" dirty="0" err="1"/>
                        <a:t>Niveles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históricos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diferencial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implícito</a:t>
                      </a:r>
                      <a:r>
                        <a:rPr sz="1600" dirty="0"/>
                        <a:t> de NDF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Proceso de Generación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EC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0A0E"/>
                </a:solidFill>
              </a:defRPr>
            </a:pPr>
            <a:r>
              <a:rPr sz="1600" dirty="0"/>
              <a:t>TFRM</a:t>
            </a:r>
          </a:p>
          <a:p>
            <a:pPr algn="ctr">
              <a:defRPr sz="1000">
                <a:solidFill>
                  <a:srgbClr val="1A1A1A"/>
                </a:solidFill>
              </a:defRPr>
            </a:pPr>
            <a:r>
              <a:rPr sz="1600" dirty="0" err="1"/>
              <a:t>Calcula</a:t>
            </a:r>
            <a:r>
              <a:rPr sz="1600" dirty="0"/>
              <a:t> la </a:t>
            </a:r>
            <a:r>
              <a:rPr sz="1600" dirty="0" err="1"/>
              <a:t>matriz</a:t>
            </a:r>
            <a:r>
              <a:rPr sz="1600" dirty="0"/>
              <a:t> Q</a:t>
            </a:r>
            <a:br>
              <a:rPr sz="1600" dirty="0"/>
            </a:br>
            <a:r>
              <a:rPr sz="1600" dirty="0"/>
              <a:t>y </a:t>
            </a:r>
            <a:r>
              <a:rPr sz="1600" dirty="0" err="1"/>
              <a:t>diag</a:t>
            </a:r>
            <a:r>
              <a:rPr sz="1600" dirty="0"/>
              <a:t>(Q) </a:t>
            </a:r>
            <a:r>
              <a:rPr sz="1600" dirty="0" err="1"/>
              <a:t>diariamente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29260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C07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2860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EC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0A0E"/>
                </a:solidFill>
              </a:defRPr>
            </a:pPr>
            <a:r>
              <a:rPr sz="1600" dirty="0"/>
              <a:t>Entrega</a:t>
            </a:r>
          </a:p>
          <a:p>
            <a:pPr algn="ctr">
              <a:defRPr sz="1000">
                <a:solidFill>
                  <a:srgbClr val="1A1A1A"/>
                </a:solidFill>
              </a:defRPr>
            </a:pPr>
            <a:r>
              <a:rPr sz="1600" dirty="0" err="1"/>
              <a:t>Envía</a:t>
            </a:r>
            <a:r>
              <a:rPr sz="1600" dirty="0"/>
              <a:t> a la mesa</a:t>
            </a:r>
            <a:br>
              <a:rPr sz="1600" dirty="0"/>
            </a:br>
            <a:r>
              <a:rPr sz="1600" dirty="0"/>
              <a:t>al </a:t>
            </a:r>
            <a:r>
              <a:rPr sz="1600" dirty="0" err="1"/>
              <a:t>cierre</a:t>
            </a:r>
            <a:r>
              <a:rPr sz="1600" dirty="0"/>
              <a:t> del día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C07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2860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EC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0A0E"/>
                </a:solidFill>
              </a:defRPr>
            </a:pPr>
            <a:r>
              <a:rPr sz="1600" dirty="0"/>
              <a:t>Mesa</a:t>
            </a:r>
          </a:p>
          <a:p>
            <a:pPr algn="ctr">
              <a:defRPr sz="1000">
                <a:solidFill>
                  <a:srgbClr val="1A1A1A"/>
                </a:solidFill>
              </a:defRPr>
            </a:pPr>
            <a:r>
              <a:rPr sz="1600" dirty="0"/>
              <a:t>Pega Q </a:t>
            </a:r>
            <a:r>
              <a:rPr sz="1600" dirty="0" err="1"/>
              <a:t>en</a:t>
            </a:r>
            <a:r>
              <a:rPr sz="1600" dirty="0"/>
              <a:t> Excel</a:t>
            </a:r>
            <a:br>
              <a:rPr sz="1600" dirty="0"/>
            </a:br>
            <a:r>
              <a:rPr sz="1600" dirty="0" err="1"/>
              <a:t>Enlaza</a:t>
            </a:r>
            <a:r>
              <a:rPr sz="1600" dirty="0"/>
              <a:t> vector S </a:t>
            </a:r>
            <a:r>
              <a:rPr sz="1600" dirty="0" err="1"/>
              <a:t>en</a:t>
            </a:r>
            <a:r>
              <a:rPr sz="1600" dirty="0"/>
              <a:t>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C07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45920"/>
            <a:ext cx="2286000" cy="109728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EC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0A0E"/>
                </a:solidFill>
              </a:defRPr>
            </a:pPr>
            <a:r>
              <a:rPr sz="1600"/>
              <a:t>Modelo Vivo</a:t>
            </a:r>
          </a:p>
          <a:p>
            <a:pPr algn="ctr">
              <a:defRPr sz="1000">
                <a:solidFill>
                  <a:srgbClr val="1A1A1A"/>
                </a:solidFill>
              </a:defRPr>
            </a:pPr>
            <a:r>
              <a:rPr sz="1600"/>
              <a:t>Multiplicador CoVaR,</a:t>
            </a:r>
            <a:br>
              <a:rPr sz="1600"/>
            </a:br>
            <a:r>
              <a:rPr sz="1600"/>
              <a:t>asignación, trades min</a:t>
            </a:r>
            <a:br>
              <a:rPr sz="1600"/>
            </a:br>
            <a:r>
              <a:rPr sz="1600"/>
              <a:t>se actualizan al instante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Contingencia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Si no se </a:t>
            </a:r>
            <a:r>
              <a:rPr sz="1600" dirty="0" err="1"/>
              <a:t>puede</a:t>
            </a:r>
            <a:r>
              <a:rPr sz="1600" dirty="0"/>
              <a:t> </a:t>
            </a:r>
            <a:r>
              <a:rPr sz="1600" dirty="0" err="1"/>
              <a:t>calcular</a:t>
            </a:r>
            <a:r>
              <a:rPr sz="1600" dirty="0"/>
              <a:t> Q: usar la Q del día anterior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Para EWMA: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impacto</a:t>
            </a:r>
            <a:r>
              <a:rPr sz="1600" dirty="0"/>
              <a:t> es </a:t>
            </a:r>
            <a:r>
              <a:rPr sz="1600" dirty="0" err="1"/>
              <a:t>manejable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un día </a:t>
            </a:r>
            <a:r>
              <a:rPr sz="1600" dirty="0" err="1"/>
              <a:t>pero</a:t>
            </a:r>
            <a:r>
              <a:rPr sz="1600" dirty="0"/>
              <a:t> no </a:t>
            </a:r>
            <a:r>
              <a:rPr sz="1600" dirty="0" err="1"/>
              <a:t>debe</a:t>
            </a:r>
            <a:r>
              <a:rPr sz="1600" dirty="0"/>
              <a:t> </a:t>
            </a:r>
            <a:r>
              <a:rPr sz="1600" dirty="0" err="1"/>
              <a:t>extenderse</a:t>
            </a:r>
            <a:r>
              <a:rPr sz="1600" dirty="0"/>
              <a:t>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allá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Para Pesos </a:t>
            </a:r>
            <a:r>
              <a:rPr sz="1600" dirty="0" err="1"/>
              <a:t>Iguales</a:t>
            </a:r>
            <a:r>
              <a:rPr sz="1600" dirty="0"/>
              <a:t>: la </a:t>
            </a:r>
            <a:r>
              <a:rPr sz="1600" dirty="0" err="1"/>
              <a:t>diferencia</a:t>
            </a:r>
            <a:r>
              <a:rPr sz="1600" dirty="0"/>
              <a:t> es </a:t>
            </a:r>
            <a:r>
              <a:rPr sz="1600" dirty="0" err="1"/>
              <a:t>despreciable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Flujo de Trabajo de la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Es impracticable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cada</a:t>
            </a:r>
            <a:r>
              <a:rPr sz="1600" dirty="0"/>
              <a:t> mesa </a:t>
            </a:r>
            <a:r>
              <a:rPr sz="1600" dirty="0" err="1"/>
              <a:t>ejecute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modelo</a:t>
            </a:r>
            <a:r>
              <a:rPr sz="1600" dirty="0"/>
              <a:t> de </a:t>
            </a:r>
            <a:r>
              <a:rPr sz="1600" dirty="0" err="1"/>
              <a:t>portafolio</a:t>
            </a:r>
            <a:r>
              <a:rPr sz="1600" dirty="0"/>
              <a:t> global dado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tienen</a:t>
            </a:r>
            <a:r>
              <a:rPr sz="1600" dirty="0"/>
              <a:t> </a:t>
            </a:r>
            <a:r>
              <a:rPr sz="1600" dirty="0" err="1"/>
              <a:t>modelos</a:t>
            </a:r>
            <a:r>
              <a:rPr sz="1600" dirty="0"/>
              <a:t> de </a:t>
            </a:r>
            <a:r>
              <a:rPr sz="1600" dirty="0" err="1"/>
              <a:t>riesgo</a:t>
            </a:r>
            <a:r>
              <a:rPr sz="1600" dirty="0"/>
              <a:t> </a:t>
            </a:r>
            <a:r>
              <a:rPr sz="1600" dirty="0" err="1"/>
              <a:t>distintos</a:t>
            </a:r>
            <a:r>
              <a:rPr sz="1600" dirty="0"/>
              <a:t> con </a:t>
            </a:r>
            <a:r>
              <a:rPr sz="1600" dirty="0" err="1"/>
              <a:t>su</a:t>
            </a:r>
            <a:r>
              <a:rPr sz="1600" dirty="0"/>
              <a:t> </a:t>
            </a:r>
            <a:r>
              <a:rPr sz="1600" dirty="0" err="1"/>
              <a:t>visión</a:t>
            </a:r>
            <a:r>
              <a:rPr sz="1600" dirty="0"/>
              <a:t> de </a:t>
            </a:r>
            <a:r>
              <a:rPr sz="1600" dirty="0" err="1"/>
              <a:t>riesgos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Opción 1: Modelo Global con Término Cruzado (Exacto)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Un solo </a:t>
            </a:r>
            <a:r>
              <a:rPr sz="1600" dirty="0" err="1"/>
              <a:t>libro</a:t>
            </a:r>
            <a:r>
              <a:rPr sz="1600" dirty="0"/>
              <a:t> Excel </a:t>
            </a:r>
            <a:r>
              <a:rPr sz="1600" dirty="0" err="1"/>
              <a:t>donde</a:t>
            </a:r>
            <a:r>
              <a:rPr sz="1600" dirty="0"/>
              <a:t> ambas mesas </a:t>
            </a:r>
            <a:r>
              <a:rPr sz="1600" dirty="0" err="1"/>
              <a:t>pegan</a:t>
            </a:r>
            <a:r>
              <a:rPr sz="1600" dirty="0"/>
              <a:t> sus </a:t>
            </a:r>
            <a:r>
              <a:rPr sz="1600" dirty="0" err="1"/>
              <a:t>vectores</a:t>
            </a:r>
            <a:r>
              <a:rPr sz="1600" dirty="0"/>
              <a:t> S y matrices Q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CoVaR del </a:t>
            </a:r>
            <a:r>
              <a:rPr sz="1600" dirty="0" err="1"/>
              <a:t>portafolio</a:t>
            </a:r>
            <a:r>
              <a:rPr sz="1600" dirty="0"/>
              <a:t> </a:t>
            </a:r>
            <a:r>
              <a:rPr sz="1600" dirty="0" err="1"/>
              <a:t>completo</a:t>
            </a:r>
            <a:r>
              <a:rPr sz="1600" dirty="0"/>
              <a:t>: c²full = c²A + c²B + 2 · SAᵀ QAB SB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Captura</a:t>
            </a:r>
            <a:r>
              <a:rPr sz="1600" dirty="0"/>
              <a:t> las </a:t>
            </a:r>
            <a:r>
              <a:rPr sz="1600" dirty="0" err="1"/>
              <a:t>correlaciones</a:t>
            </a:r>
            <a:r>
              <a:rPr sz="1600" dirty="0"/>
              <a:t> entre mesas </a:t>
            </a:r>
            <a:r>
              <a:rPr sz="1600" dirty="0" err="1"/>
              <a:t>exactamente</a:t>
            </a:r>
            <a:r>
              <a:rPr sz="1600" dirty="0"/>
              <a:t> — sin sub/</a:t>
            </a:r>
            <a:r>
              <a:rPr sz="1600" dirty="0" err="1"/>
              <a:t>sobreestimación</a:t>
            </a:r>
            <a:endParaRPr sz="16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Requiere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ambas mesas </a:t>
            </a:r>
            <a:r>
              <a:rPr sz="1600" dirty="0" err="1"/>
              <a:t>compartan</a:t>
            </a:r>
            <a:r>
              <a:rPr sz="1600" dirty="0"/>
              <a:t> </a:t>
            </a:r>
            <a:r>
              <a:rPr sz="1600" dirty="0" err="1"/>
              <a:t>vectores</a:t>
            </a:r>
            <a:r>
              <a:rPr sz="1600" dirty="0"/>
              <a:t> de </a:t>
            </a:r>
            <a:r>
              <a:rPr sz="1600" dirty="0" err="1"/>
              <a:t>riesgo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un solo </a:t>
            </a:r>
            <a:r>
              <a:rPr sz="1600" dirty="0" err="1"/>
              <a:t>libro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Opción 2: CoVaRs Individuales Aditivos (Aproximado)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Cada mesa ejecuta su propio modelo: Mesa FX (STIR + FX + XCCY) y Mesa Tasas (Soberanos + Tasas Largas)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Riesgo total aproximado sumando ambos multiplicadores CoVaR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Advertencia: ignora correlaciones entre mesas. Actualmente Soberanos y USDPEN están positivamente correlacionados — la suma simple probablemente subestima el riesgo combinado real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/>
              <a:t>Adecuado como aproximación intradía, reconciliado contra el modelo global en puntos clave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Pendientes para Ejecución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Software: SQL, Python, Excel, Bloomberg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Requerimientos de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676919"/>
              </p:ext>
            </p:extLst>
          </p:nvPr>
        </p:nvGraphicFramePr>
        <p:xfrm>
          <a:off x="73152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Tipo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Fuente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Pendiente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 dirty="0" err="1"/>
                        <a:t>Monedas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SQL Bloomberg/PEAK Fixings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Poblar la base con data. De lo contrario esperar publicación SBS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Soberanos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Ingresar CMT calculados, establecer proceso de cálculo diario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Swaps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Bloomberg a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Carga inicial y establecer el proceso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NDF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SQL Diferenciales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 dirty="0"/>
                        <a:t>Listo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Construcción del Proceso: 1 Script Python, 4 Funciones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(1) Interpolar CMT </a:t>
            </a:r>
            <a:r>
              <a:rPr sz="1600" dirty="0" err="1"/>
              <a:t>respecto</a:t>
            </a:r>
            <a:r>
              <a:rPr sz="1600" dirty="0"/>
              <a:t> a </a:t>
            </a:r>
            <a:r>
              <a:rPr sz="1600" dirty="0" err="1"/>
              <a:t>duraciones</a:t>
            </a:r>
            <a:r>
              <a:rPr sz="1600" dirty="0"/>
              <a:t> </a:t>
            </a:r>
            <a:r>
              <a:rPr sz="1600" dirty="0" err="1"/>
              <a:t>actuales</a:t>
            </a:r>
            <a:r>
              <a:rPr sz="1600" dirty="0"/>
              <a:t> de </a:t>
            </a:r>
            <a:r>
              <a:rPr sz="1600" dirty="0" err="1"/>
              <a:t>Soberanos</a:t>
            </a:r>
            <a:endParaRPr sz="1600" dirty="0"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(2) </a:t>
            </a:r>
            <a:r>
              <a:rPr sz="1600" dirty="0" err="1"/>
              <a:t>Calcular</a:t>
            </a:r>
            <a:r>
              <a:rPr sz="1600" dirty="0"/>
              <a:t> </a:t>
            </a:r>
            <a:r>
              <a:rPr sz="1600" dirty="0" err="1"/>
              <a:t>cambios</a:t>
            </a:r>
            <a:r>
              <a:rPr sz="1600" dirty="0"/>
              <a:t> </a:t>
            </a:r>
            <a:r>
              <a:rPr sz="1600" dirty="0" err="1"/>
              <a:t>DiD</a:t>
            </a:r>
            <a:r>
              <a:rPr sz="1600" dirty="0"/>
              <a:t> (bps para </a:t>
            </a:r>
            <a:r>
              <a:rPr sz="1600" dirty="0" err="1"/>
              <a:t>tasas</a:t>
            </a:r>
            <a:r>
              <a:rPr sz="1600" dirty="0"/>
              <a:t>, % para FX)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(3) </a:t>
            </a:r>
            <a:r>
              <a:rPr sz="1600" dirty="0" err="1"/>
              <a:t>Calcular</a:t>
            </a:r>
            <a:r>
              <a:rPr sz="1600" dirty="0"/>
              <a:t> </a:t>
            </a:r>
            <a:r>
              <a:rPr sz="1600" dirty="0" err="1"/>
              <a:t>matriz</a:t>
            </a:r>
            <a:r>
              <a:rPr sz="1600" dirty="0"/>
              <a:t> de </a:t>
            </a:r>
            <a:r>
              <a:rPr sz="1600" dirty="0" err="1"/>
              <a:t>covarianza</a:t>
            </a:r>
            <a:r>
              <a:rPr sz="1600" dirty="0"/>
              <a:t> y </a:t>
            </a:r>
            <a:r>
              <a:rPr sz="1600" dirty="0" err="1"/>
              <a:t>diag</a:t>
            </a:r>
            <a:r>
              <a:rPr sz="1600" dirty="0"/>
              <a:t>(Q)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(4) </a:t>
            </a:r>
            <a:r>
              <a:rPr sz="1600" dirty="0" err="1"/>
              <a:t>Exportar</a:t>
            </a:r>
            <a:r>
              <a:rPr sz="1600" dirty="0"/>
              <a:t> Q y </a:t>
            </a:r>
            <a:r>
              <a:rPr sz="1600" dirty="0" err="1"/>
              <a:t>diag</a:t>
            </a:r>
            <a:r>
              <a:rPr sz="1600" dirty="0"/>
              <a:t>(Q) a CSV/Excel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rPr dirty="0" err="1"/>
              <a:t>Cronograma</a:t>
            </a:r>
            <a:r>
              <a:rPr dirty="0"/>
              <a:t> de </a:t>
            </a:r>
            <a:r>
              <a:rPr dirty="0" err="1"/>
              <a:t>Implementación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0712"/>
                </a:solidFill>
                <a:latin typeface="Calibri"/>
              </a:defRPr>
            </a:pPr>
            <a:r>
              <a:rPr sz="1600" dirty="0"/>
              <a:t>Bloque 1: Desarrollo e </a:t>
            </a:r>
            <a:r>
              <a:rPr sz="1600" dirty="0" err="1"/>
              <a:t>Implementación</a:t>
            </a:r>
            <a:r>
              <a:rPr sz="1600" dirty="0"/>
              <a:t> de Data y Sistema (2 Semanas)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638019"/>
              </p:ext>
            </p:extLst>
          </p:nvPr>
        </p:nvGraphicFramePr>
        <p:xfrm>
          <a:off x="731520" y="1188720"/>
          <a:ext cx="9144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#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Tarea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% Avance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Tiempo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 err="1"/>
                        <a:t>Establecer</a:t>
                      </a:r>
                      <a:r>
                        <a:rPr sz="1600" dirty="0"/>
                        <a:t> bases de </a:t>
                      </a:r>
                      <a:r>
                        <a:rPr sz="1600" dirty="0" err="1"/>
                        <a:t>datos</a:t>
                      </a:r>
                      <a:r>
                        <a:rPr sz="1600" dirty="0"/>
                        <a:t>: </a:t>
                      </a:r>
                      <a:r>
                        <a:rPr sz="1600" dirty="0" err="1"/>
                        <a:t>poblar</a:t>
                      </a:r>
                      <a:r>
                        <a:rPr sz="1600" dirty="0"/>
                        <a:t> SQL, carga BBG, </a:t>
                      </a:r>
                      <a:r>
                        <a:rPr sz="1600" dirty="0" err="1"/>
                        <a:t>generación</a:t>
                      </a:r>
                      <a:r>
                        <a:rPr sz="1600" dirty="0"/>
                        <a:t> auto CMT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5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/>
                        <a:t>Recall de data </a:t>
                      </a:r>
                      <a:r>
                        <a:rPr sz="1600" dirty="0" err="1"/>
                        <a:t>desde</a:t>
                      </a:r>
                      <a:r>
                        <a:rPr sz="1600" dirty="0"/>
                        <a:t> SQL (Python): </a:t>
                      </a:r>
                      <a:r>
                        <a:rPr sz="1600" dirty="0" err="1"/>
                        <a:t>mapear</a:t>
                      </a:r>
                      <a:r>
                        <a:rPr sz="1600" dirty="0"/>
                        <a:t> bases, </a:t>
                      </a:r>
                      <a:r>
                        <a:rPr sz="1600" dirty="0" err="1"/>
                        <a:t>reordenar</a:t>
                      </a:r>
                      <a:r>
                        <a:rPr sz="1600" dirty="0"/>
                        <a:t> curvas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3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Codificar flujo de cómputo de matriz: CMT + recall + generación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3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 err="1"/>
                        <a:t>Construir</a:t>
                      </a:r>
                      <a:r>
                        <a:rPr sz="1600" dirty="0"/>
                        <a:t> dashboard Excel: CoVaR + </a:t>
                      </a:r>
                      <a:r>
                        <a:rPr sz="1600" dirty="0" err="1"/>
                        <a:t>VaR</a:t>
                      </a:r>
                      <a:r>
                        <a:rPr sz="1600" dirty="0"/>
                        <a:t> Histórico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/>
                        <a:t>2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0774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0712"/>
                </a:solidFill>
                <a:latin typeface="Calibri"/>
              </a:defRPr>
            </a:pPr>
            <a:r>
              <a:rPr sz="1600" dirty="0"/>
              <a:t>Bloque 2: </a:t>
            </a:r>
            <a:r>
              <a:rPr sz="1600" dirty="0" err="1"/>
              <a:t>Calibración</a:t>
            </a:r>
            <a:r>
              <a:rPr sz="1600" dirty="0"/>
              <a:t> y </a:t>
            </a:r>
            <a:r>
              <a:rPr sz="1600" dirty="0" err="1"/>
              <a:t>Backtesting</a:t>
            </a:r>
            <a:r>
              <a:rPr sz="1600" dirty="0"/>
              <a:t> (1 Semana)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930563"/>
              </p:ext>
            </p:extLst>
          </p:nvPr>
        </p:nvGraphicFramePr>
        <p:xfrm>
          <a:off x="731520" y="3383280"/>
          <a:ext cx="9144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#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Tarea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Tiempo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 err="1"/>
                        <a:t>Calibración</a:t>
                      </a:r>
                      <a:r>
                        <a:rPr sz="1600" dirty="0"/>
                        <a:t> y </a:t>
                      </a:r>
                      <a:r>
                        <a:rPr sz="1600" dirty="0" err="1"/>
                        <a:t>backtesting</a:t>
                      </a:r>
                      <a:r>
                        <a:rPr sz="1600" dirty="0"/>
                        <a:t>: EW, EWMA lambdas, </a:t>
                      </a:r>
                      <a:r>
                        <a:rPr sz="1600" dirty="0" err="1"/>
                        <a:t>métodos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suavizamiento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2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 err="1"/>
                        <a:t>Reconciliar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hallazgos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en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presentación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/>
                        <a:t>3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7713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0712"/>
                </a:solidFill>
                <a:latin typeface="Calibri"/>
              </a:defRPr>
            </a:pPr>
            <a:r>
              <a:rPr sz="1600" dirty="0"/>
              <a:t>Bloque 3: Feedback e </a:t>
            </a:r>
            <a:r>
              <a:rPr sz="1600" dirty="0" err="1"/>
              <a:t>Implementación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Flujo</a:t>
            </a:r>
            <a:r>
              <a:rPr sz="1600" dirty="0"/>
              <a:t> del Trader (2 Semanas)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772001"/>
              </p:ext>
            </p:extLst>
          </p:nvPr>
        </p:nvGraphicFramePr>
        <p:xfrm>
          <a:off x="731520" y="4742890"/>
          <a:ext cx="9144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#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Tarea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Tiempo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Presentar a traders, acordar prácticas, división de portafolios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2-3 sesiones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 err="1"/>
                        <a:t>Implementar</a:t>
                      </a:r>
                      <a:r>
                        <a:rPr sz="1600" dirty="0"/>
                        <a:t> feedback, </a:t>
                      </a:r>
                      <a:r>
                        <a:rPr sz="1600" dirty="0" err="1"/>
                        <a:t>incorporar</a:t>
                      </a:r>
                      <a:r>
                        <a:rPr sz="1600" dirty="0"/>
                        <a:t> a blotters de trader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600" dirty="0"/>
                        <a:t>1 </a:t>
                      </a:r>
                      <a:r>
                        <a:rPr sz="1600" dirty="0" err="1"/>
                        <a:t>semana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75023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0712"/>
                </a:solidFill>
                <a:latin typeface="Calibri"/>
              </a:defRPr>
            </a:pPr>
            <a:r>
              <a:rPr sz="1600" dirty="0"/>
              <a:t>Bloque 4: </a:t>
            </a:r>
            <a:r>
              <a:rPr sz="1600" dirty="0" err="1"/>
              <a:t>Monitoreo</a:t>
            </a:r>
            <a:r>
              <a:rPr sz="1600" dirty="0"/>
              <a:t> y </a:t>
            </a:r>
            <a:r>
              <a:rPr sz="1600" dirty="0" err="1"/>
              <a:t>Mejoras</a:t>
            </a:r>
            <a:r>
              <a:rPr sz="1600" dirty="0"/>
              <a:t> (Continuo)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70270"/>
            <a:ext cx="100584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Monitorear</a:t>
            </a:r>
            <a:r>
              <a:rPr sz="1600" dirty="0"/>
              <a:t> CoVaR </a:t>
            </a:r>
            <a:r>
              <a:rPr sz="1600" dirty="0" err="1"/>
              <a:t>en</a:t>
            </a:r>
            <a:r>
              <a:rPr sz="1600" dirty="0"/>
              <a:t> vivo vs </a:t>
            </a:r>
            <a:r>
              <a:rPr sz="1600" dirty="0" err="1"/>
              <a:t>PnL</a:t>
            </a:r>
            <a:r>
              <a:rPr sz="1600" dirty="0"/>
              <a:t> </a:t>
            </a:r>
            <a:r>
              <a:rPr sz="1600" dirty="0" err="1"/>
              <a:t>realizado</a:t>
            </a:r>
            <a:r>
              <a:rPr sz="1600" dirty="0"/>
              <a:t> para </a:t>
            </a:r>
            <a:r>
              <a:rPr sz="1600" dirty="0" err="1"/>
              <a:t>validación</a:t>
            </a:r>
            <a:r>
              <a:rPr sz="1600" dirty="0"/>
              <a:t> continua del </a:t>
            </a:r>
            <a:r>
              <a:rPr sz="1600" dirty="0" err="1"/>
              <a:t>modelo</a:t>
            </a:r>
            <a:endParaRPr sz="1600" dirty="0"/>
          </a:p>
          <a:p>
            <a:pPr>
              <a:spcAft>
                <a:spcPts val="6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Desarrollar</a:t>
            </a:r>
            <a:r>
              <a:rPr sz="1600" dirty="0"/>
              <a:t> </a:t>
            </a:r>
            <a:r>
              <a:rPr sz="1600" dirty="0" err="1"/>
              <a:t>mejoras</a:t>
            </a:r>
            <a:r>
              <a:rPr sz="1600" dirty="0"/>
              <a:t> del roadmap </a:t>
            </a:r>
            <a:r>
              <a:rPr sz="1600" dirty="0" err="1"/>
              <a:t>según</a:t>
            </a:r>
            <a:r>
              <a:rPr sz="1600" dirty="0"/>
              <a:t> </a:t>
            </a:r>
            <a:r>
              <a:rPr sz="1600" dirty="0" err="1"/>
              <a:t>prioridad</a:t>
            </a:r>
            <a:r>
              <a:rPr sz="1600" dirty="0"/>
              <a:t> y feedback de traders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Mejoras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Matriz de Covarianza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Limpieza</a:t>
            </a:r>
            <a:r>
              <a:rPr sz="1600" dirty="0"/>
              <a:t> de </a:t>
            </a:r>
            <a:r>
              <a:rPr sz="1600" dirty="0" err="1"/>
              <a:t>matriz</a:t>
            </a:r>
            <a:r>
              <a:rPr sz="1600" dirty="0"/>
              <a:t> RIE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dimensiones</a:t>
            </a:r>
            <a:r>
              <a:rPr sz="1600" dirty="0"/>
              <a:t> </a:t>
            </a:r>
            <a:r>
              <a:rPr sz="1600" dirty="0" err="1"/>
              <a:t>mayores</a:t>
            </a:r>
            <a:r>
              <a:rPr sz="1600" dirty="0"/>
              <a:t> (Bun, </a:t>
            </a:r>
            <a:r>
              <a:rPr sz="1600" dirty="0" err="1"/>
              <a:t>Bouchaud</a:t>
            </a:r>
            <a:r>
              <a:rPr sz="1600" dirty="0"/>
              <a:t>, Potters 2016)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Dashboard dual: EWMA para </a:t>
            </a:r>
            <a:r>
              <a:rPr sz="1600" dirty="0" err="1"/>
              <a:t>régimen</a:t>
            </a:r>
            <a:r>
              <a:rPr sz="1600" dirty="0"/>
              <a:t> actual, pesos </a:t>
            </a:r>
            <a:r>
              <a:rPr sz="1600" dirty="0" err="1"/>
              <a:t>iguales</a:t>
            </a:r>
            <a:r>
              <a:rPr sz="1600" dirty="0"/>
              <a:t> para </a:t>
            </a:r>
            <a:r>
              <a:rPr sz="1600" dirty="0" err="1"/>
              <a:t>visión</a:t>
            </a:r>
            <a:r>
              <a:rPr sz="1600" dirty="0"/>
              <a:t> </a:t>
            </a:r>
            <a:r>
              <a:rPr sz="1600" dirty="0" err="1"/>
              <a:t>estructural</a:t>
            </a:r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Ajustes por Colas Gruesas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Ratio </a:t>
            </a:r>
            <a:r>
              <a:rPr sz="1600" dirty="0" err="1"/>
              <a:t>empírico</a:t>
            </a:r>
            <a:r>
              <a:rPr sz="1600" dirty="0"/>
              <a:t>: </a:t>
            </a:r>
            <a:r>
              <a:rPr sz="1600" dirty="0" err="1"/>
              <a:t>VaR</a:t>
            </a:r>
            <a:r>
              <a:rPr sz="1600" dirty="0"/>
              <a:t> Histórico / CoVaR </a:t>
            </a:r>
            <a:r>
              <a:rPr sz="1600" dirty="0" err="1"/>
              <a:t>como</a:t>
            </a:r>
            <a:r>
              <a:rPr sz="1600" dirty="0"/>
              <a:t> </a:t>
            </a:r>
            <a:r>
              <a:rPr sz="1600" dirty="0" err="1"/>
              <a:t>multiplicador</a:t>
            </a:r>
            <a:r>
              <a:rPr sz="1600" dirty="0"/>
              <a:t> de cola libre de </a:t>
            </a:r>
            <a:r>
              <a:rPr sz="1600" dirty="0" err="1"/>
              <a:t>modelo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Multiplicador</a:t>
            </a:r>
            <a:r>
              <a:rPr sz="1600" dirty="0"/>
              <a:t> </a:t>
            </a:r>
            <a:r>
              <a:rPr sz="1600" dirty="0" err="1"/>
              <a:t>conservador</a:t>
            </a:r>
            <a:r>
              <a:rPr sz="1600" dirty="0"/>
              <a:t> </a:t>
            </a:r>
            <a:r>
              <a:rPr sz="1600" dirty="0" err="1"/>
              <a:t>fijo</a:t>
            </a:r>
            <a:r>
              <a:rPr sz="1600" dirty="0"/>
              <a:t>: </a:t>
            </a:r>
            <a:r>
              <a:rPr sz="1600" dirty="0" err="1"/>
              <a:t>cuantil</a:t>
            </a:r>
            <a:r>
              <a:rPr sz="1600" dirty="0"/>
              <a:t> Student-t (~3.0–3.4× para </a:t>
            </a:r>
            <a:r>
              <a:rPr sz="1600" dirty="0" err="1"/>
              <a:t>clase</a:t>
            </a:r>
            <a:r>
              <a:rPr sz="1600" dirty="0"/>
              <a:t> de </a:t>
            </a:r>
            <a:r>
              <a:rPr sz="1600" dirty="0" err="1"/>
              <a:t>activos</a:t>
            </a:r>
            <a:r>
              <a:rPr sz="1600" dirty="0"/>
              <a:t> </a:t>
            </a:r>
            <a:r>
              <a:rPr sz="1600" dirty="0" err="1"/>
              <a:t>LatAm</a:t>
            </a:r>
            <a:r>
              <a:rPr sz="16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Cornish-Fisher: </a:t>
            </a:r>
            <a:r>
              <a:rPr sz="1600" dirty="0" err="1"/>
              <a:t>recalibración</a:t>
            </a:r>
            <a:r>
              <a:rPr sz="1600" dirty="0"/>
              <a:t> </a:t>
            </a:r>
            <a:r>
              <a:rPr sz="1600" dirty="0" err="1"/>
              <a:t>diaria</a:t>
            </a:r>
            <a:r>
              <a:rPr sz="1600" dirty="0"/>
              <a:t> </a:t>
            </a:r>
            <a:r>
              <a:rPr sz="1600" dirty="0" err="1"/>
              <a:t>usando</a:t>
            </a:r>
            <a:r>
              <a:rPr sz="1600" dirty="0"/>
              <a:t> </a:t>
            </a:r>
            <a:r>
              <a:rPr sz="1600" dirty="0" err="1"/>
              <a:t>asimetría</a:t>
            </a:r>
            <a:r>
              <a:rPr sz="1600" dirty="0"/>
              <a:t> y </a:t>
            </a:r>
            <a:r>
              <a:rPr sz="1600" dirty="0" err="1"/>
              <a:t>curtosis</a:t>
            </a:r>
            <a:r>
              <a:rPr sz="1600" dirty="0"/>
              <a:t> del </a:t>
            </a:r>
            <a:r>
              <a:rPr sz="1600" dirty="0" err="1"/>
              <a:t>PnL</a:t>
            </a:r>
            <a:r>
              <a:rPr sz="1600" dirty="0"/>
              <a:t> del </a:t>
            </a:r>
            <a:r>
              <a:rPr sz="1600" dirty="0" err="1"/>
              <a:t>portafolio</a:t>
            </a:r>
            <a:endParaRPr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0712"/>
                </a:solidFill>
                <a:latin typeface="Calibri"/>
              </a:defRPr>
            </a:pPr>
            <a:r>
              <a:t>Marco de Riesgo-Retorno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0584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Capa Sharpe: </a:t>
            </a:r>
            <a:r>
              <a:rPr sz="1600" dirty="0" err="1"/>
              <a:t>retorno</a:t>
            </a:r>
            <a:r>
              <a:rPr sz="1600" dirty="0"/>
              <a:t> </a:t>
            </a:r>
            <a:r>
              <a:rPr sz="1600" dirty="0" err="1"/>
              <a:t>esperado</a:t>
            </a:r>
            <a:r>
              <a:rPr sz="1600" dirty="0"/>
              <a:t> / </a:t>
            </a:r>
            <a:r>
              <a:rPr sz="1600" dirty="0" err="1"/>
              <a:t>multiplicador</a:t>
            </a:r>
            <a:r>
              <a:rPr sz="1600" dirty="0"/>
              <a:t> CoVaR </a:t>
            </a:r>
            <a:r>
              <a:rPr sz="1600" dirty="0" err="1"/>
              <a:t>por</a:t>
            </a:r>
            <a:r>
              <a:rPr sz="1600" dirty="0"/>
              <a:t> bucket y </a:t>
            </a:r>
            <a:r>
              <a:rPr sz="1600" dirty="0" err="1"/>
              <a:t>portafolio</a:t>
            </a:r>
            <a:endParaRPr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A1A1A"/>
                </a:solidFill>
                <a:latin typeface="Calibri"/>
              </a:defRPr>
            </a:pPr>
            <a:r>
              <a:rPr sz="1600" dirty="0" err="1"/>
              <a:t>Herramienta</a:t>
            </a:r>
            <a:r>
              <a:rPr sz="1600" dirty="0"/>
              <a:t> de Sharpe de trades y </a:t>
            </a:r>
            <a:r>
              <a:rPr sz="1600" dirty="0" err="1"/>
              <a:t>estrategia</a:t>
            </a:r>
            <a:r>
              <a:rPr sz="1600" dirty="0"/>
              <a:t> de </a:t>
            </a:r>
            <a:r>
              <a:rPr sz="1600" dirty="0" err="1"/>
              <a:t>portafolio</a:t>
            </a:r>
            <a:endParaRPr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0A0E"/>
                </a:solidFill>
                <a:latin typeface="Calibri"/>
              </a:defRPr>
            </a:pPr>
            <a:r>
              <a:t>Apéndice: ¿Por Qué CoVaR Sobre VaR Histórico?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208985"/>
              </p:ext>
            </p:extLst>
          </p:nvPr>
        </p:nvGraphicFramePr>
        <p:xfrm>
          <a:off x="731520" y="795980"/>
          <a:ext cx="10515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endParaRPr sz="1600"/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VaR Histórico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CoVaR</a:t>
                      </a:r>
                    </a:p>
                  </a:txBody>
                  <a:tcPr>
                    <a:solidFill>
                      <a:srgbClr val="EC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600"/>
                        <a:t>Velocidad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 dirty="0" err="1"/>
                        <a:t>Posible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intradía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vía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aprox</a:t>
                      </a:r>
                      <a:r>
                        <a:rPr sz="1600" dirty="0"/>
                        <a:t>. delta, </a:t>
                      </a:r>
                      <a:r>
                        <a:rPr sz="1600" dirty="0" err="1"/>
                        <a:t>pero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desordenado</a:t>
                      </a:r>
                      <a:r>
                        <a:rPr sz="1600" dirty="0"/>
                        <a:t>: </a:t>
                      </a:r>
                      <a:r>
                        <a:rPr sz="1600" dirty="0" err="1"/>
                        <a:t>recalcular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cada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escenario</a:t>
                      </a:r>
                      <a:r>
                        <a:rPr sz="1600" dirty="0"/>
                        <a:t>, re-</a:t>
                      </a:r>
                      <a:r>
                        <a:rPr sz="1600" dirty="0" err="1"/>
                        <a:t>rankear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pérdidas</a:t>
                      </a:r>
                      <a:r>
                        <a:rPr sz="1600" dirty="0"/>
                        <a:t>. Saltos </a:t>
                      </a:r>
                      <a:r>
                        <a:rPr sz="1600" dirty="0" err="1"/>
                        <a:t>discretos</a:t>
                      </a:r>
                      <a:r>
                        <a:rPr sz="1600" dirty="0"/>
                        <a:t>, sin </a:t>
                      </a:r>
                      <a:r>
                        <a:rPr sz="1600" dirty="0" err="1"/>
                        <a:t>estructura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analítica</a:t>
                      </a:r>
                      <a:r>
                        <a:rPr sz="1600" dirty="0"/>
                        <a:t>.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Función continua y suave de S y Q — cambias una posición, el resultado se actualiza al instante.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600"/>
                        <a:t>Descomposición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Se puede dividir en IR vs FX, re-agrupar por trade — pero la atribución granular es compleja y difícil de mantener.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Asignación completa a cada bucket de riesgo, siempre sumando exactamente al VaR total.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600"/>
                        <a:t>Accionabilidad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El peor escenario apunta a una concentración. Una vez cubierto, el VaR salta a otro día histórico con riesgo en otro lugar. Terminas persiguiendo fantasmas de regímenes que ya no existen.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Responde suavemente a cambios de posición respecto a una visión coherente de la estructura actual del mercado. Sin saltos de régimen.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600"/>
                        <a:t>Condiciones de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Retrospectivo: los escenarios de cola son días históricos fijos que pueden no reflejar el régimen actual.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La covarianza EWMA refleja el régimen actual de volatilidad y correlación.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600"/>
                        <a:t>Precisión de Colas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/>
                        <a:t>Captura las colas realmente realizadas.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rPr sz="1600" dirty="0" err="1"/>
                        <a:t>Asume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normalidad</a:t>
                      </a:r>
                      <a:r>
                        <a:rPr sz="1600" dirty="0"/>
                        <a:t> — </a:t>
                      </a:r>
                      <a:r>
                        <a:rPr sz="1600" dirty="0" err="1"/>
                        <a:t>simétrica</a:t>
                      </a:r>
                      <a:r>
                        <a:rPr sz="1600" dirty="0"/>
                        <a:t>, sin colas </a:t>
                      </a:r>
                      <a:r>
                        <a:rPr sz="1600" dirty="0" err="1"/>
                        <a:t>gruesas</a:t>
                      </a:r>
                      <a:r>
                        <a:rPr sz="1600" dirty="0"/>
                        <a:t>.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6289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0A0E"/>
                </a:solidFill>
                <a:latin typeface="Calibri"/>
              </a:defRPr>
            </a:pPr>
            <a:r>
              <a:rPr sz="1600" dirty="0"/>
              <a:t>El tradeoff: CoVaR </a:t>
            </a:r>
            <a:r>
              <a:rPr sz="1600" dirty="0" err="1"/>
              <a:t>sacrifica</a:t>
            </a:r>
            <a:r>
              <a:rPr sz="1600" dirty="0"/>
              <a:t> </a:t>
            </a:r>
            <a:r>
              <a:rPr sz="1600" dirty="0" err="1"/>
              <a:t>precisión</a:t>
            </a:r>
            <a:r>
              <a:rPr sz="1600" dirty="0"/>
              <a:t> </a:t>
            </a:r>
            <a:r>
              <a:rPr sz="1600" dirty="0" err="1"/>
              <a:t>distribucional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tractabilidad</a:t>
            </a:r>
            <a:r>
              <a:rPr sz="1600" dirty="0"/>
              <a:t> </a:t>
            </a:r>
            <a:r>
              <a:rPr sz="1600" dirty="0" err="1"/>
              <a:t>analítica</a:t>
            </a:r>
            <a:r>
              <a:rPr sz="1600" dirty="0"/>
              <a:t>. Se </a:t>
            </a:r>
            <a:r>
              <a:rPr sz="1600" dirty="0" err="1"/>
              <a:t>pierde</a:t>
            </a:r>
            <a:r>
              <a:rPr sz="1600" dirty="0"/>
              <a:t> la forma de la cola. Se </a:t>
            </a:r>
            <a:r>
              <a:rPr sz="1600" dirty="0" err="1"/>
              <a:t>gana</a:t>
            </a:r>
            <a:r>
              <a:rPr sz="1600" dirty="0"/>
              <a:t> </a:t>
            </a:r>
            <a:r>
              <a:rPr sz="1600" dirty="0" err="1"/>
              <a:t>descomposición</a:t>
            </a:r>
            <a:r>
              <a:rPr sz="1600" dirty="0"/>
              <a:t>, </a:t>
            </a:r>
            <a:r>
              <a:rPr sz="1600" dirty="0" err="1"/>
              <a:t>consistencia</a:t>
            </a:r>
            <a:r>
              <a:rPr sz="1600" dirty="0"/>
              <a:t> y </a:t>
            </a:r>
            <a:r>
              <a:rPr sz="1600" dirty="0" err="1"/>
              <a:t>velocidad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1640</Words>
  <Application>Microsoft Office PowerPoint</Application>
  <PresentationFormat>Widescreen</PresentationFormat>
  <Paragraphs>213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RODRIGUEZ RAMIREZ JOAQUIN ADRIAN</cp:lastModifiedBy>
  <cp:revision>2</cp:revision>
  <dcterms:created xsi:type="dcterms:W3CDTF">2013-01-27T09:14:16Z</dcterms:created>
  <dcterms:modified xsi:type="dcterms:W3CDTF">2026-04-08T12:37:27Z</dcterms:modified>
  <cp:category/>
</cp:coreProperties>
</file>